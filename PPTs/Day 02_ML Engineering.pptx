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WORKSHOP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77800" dist="50800" dir="16200000">
              <a:srgbClr val="8B5CF6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173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84832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10-DAY INTENSIVE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396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Engineering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12064" y="29626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Production Skills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76732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classical-ML backbone — pipelines, tracking, tuning, evaluation and serving that actually hold up in production.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404518" cy="310896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72000"/>
            <a:ext cx="14045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81174" y="4572000"/>
            <a:ext cx="866851" cy="310896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1174" y="4572000"/>
            <a:ext cx="8668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76042" y="4572000"/>
            <a:ext cx="866851" cy="310896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6042" y="4572000"/>
            <a:ext cx="8668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Optuna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70909" y="4572000"/>
            <a:ext cx="598018" cy="310896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70909" y="4572000"/>
            <a:ext cx="598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W&amp;B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96942" y="4572000"/>
            <a:ext cx="1135685" cy="310896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6942" y="4572000"/>
            <a:ext cx="11356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APIs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TODAY'S BLUEPRINT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pillars we'll build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688336" cy="932688"/>
          </a:xfrm>
          <a:prstGeom prst="roundRect">
            <a:avLst>
              <a:gd name="adj" fmla="val 980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737360"/>
            <a:ext cx="603504" cy="603504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40" y="1912376"/>
            <a:ext cx="253472" cy="253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24328" y="16642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44168" y="1728216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44168" y="202082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preprocessing &amp; ColumnTransformer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0128" y="1572768"/>
            <a:ext cx="2688336" cy="932688"/>
          </a:xfrm>
          <a:prstGeom prst="roundRect">
            <a:avLst>
              <a:gd name="adj" fmla="val 980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1737360"/>
            <a:ext cx="603504" cy="603504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448" y="1912376"/>
            <a:ext cx="253472" cy="253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31536" y="16642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72B6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151376" y="1728216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151376" y="202082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/ unsupervised — when LLMs are overkill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17336" y="1572768"/>
            <a:ext cx="2688336" cy="932688"/>
          </a:xfrm>
          <a:prstGeom prst="roundRect">
            <a:avLst>
              <a:gd name="adj" fmla="val 980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737360"/>
            <a:ext cx="603504" cy="603504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656" y="1912376"/>
            <a:ext cx="253472" cy="253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744" y="16642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958584" y="1728216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958584" y="202082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&amp; Weights &amp; Biases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2633472"/>
            <a:ext cx="2688336" cy="932688"/>
          </a:xfrm>
          <a:prstGeom prst="roundRect">
            <a:avLst>
              <a:gd name="adj" fmla="val 980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" y="2798064"/>
            <a:ext cx="603504" cy="603504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40" y="2973080"/>
            <a:ext cx="253472" cy="253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24328" y="2724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BF24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344168" y="2788920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344168" y="308152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Optuna, grid search &amp; early stopping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310128" y="2633472"/>
            <a:ext cx="2688336" cy="932688"/>
          </a:xfrm>
          <a:prstGeom prst="roundRect">
            <a:avLst>
              <a:gd name="adj" fmla="val 980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56432" y="2798064"/>
            <a:ext cx="603504" cy="603504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1448" y="2973080"/>
            <a:ext cx="253472" cy="253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31536" y="2724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8BF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151376" y="2788920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151376" y="308152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AUC — beyond accuracy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17336" y="2633472"/>
            <a:ext cx="2688336" cy="932688"/>
          </a:xfrm>
          <a:prstGeom prst="roundRect">
            <a:avLst>
              <a:gd name="adj" fmla="val 980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63640" y="2798064"/>
            <a:ext cx="603504" cy="603504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656" y="2973080"/>
            <a:ext cx="253472" cy="253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238744" y="2724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958584" y="2788920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&amp; Imbalance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6958584" y="308152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imbalance, data &amp; concept drift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02920" y="3694176"/>
            <a:ext cx="2688336" cy="932688"/>
          </a:xfrm>
          <a:prstGeom prst="roundRect">
            <a:avLst>
              <a:gd name="adj" fmla="val 980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49224" y="3858768"/>
            <a:ext cx="603504" cy="603504"/>
          </a:xfrm>
          <a:prstGeom prst="ellipse">
            <a:avLst/>
          </a:prstGeom>
          <a:solidFill>
            <a:srgbClr val="A3E635">
              <a:alpha val="18000"/>
            </a:srgbClr>
          </a:solidFill>
          <a:ln w="12700">
            <a:solidFill>
              <a:srgbClr val="A3E635">
                <a:alpha val="45000"/>
              </a:srgbClr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240" y="4033784"/>
            <a:ext cx="253472" cy="25347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2624328" y="37856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E635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1344168" y="3849624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Models</a:t>
            </a:r>
            <a:endParaRPr lang="en-US" sz="1450" dirty="0"/>
          </a:p>
        </p:txBody>
      </p:sp>
      <p:sp>
        <p:nvSpPr>
          <p:cNvPr id="45" name="Text 36"/>
          <p:cNvSpPr/>
          <p:nvPr/>
        </p:nvSpPr>
        <p:spPr>
          <a:xfrm>
            <a:off x="1344168" y="41422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classical ML as REST APIs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3310128" y="3694176"/>
            <a:ext cx="2688336" cy="932688"/>
          </a:xfrm>
          <a:prstGeom prst="roundRect">
            <a:avLst>
              <a:gd name="adj" fmla="val 9804"/>
            </a:avLst>
          </a:prstGeom>
          <a:solidFill>
            <a:srgbClr val="1B23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3456432" y="3858768"/>
            <a:ext cx="603504" cy="603504"/>
          </a:xfrm>
          <a:prstGeom prst="ellipse">
            <a:avLst/>
          </a:prstGeom>
          <a:solidFill>
            <a:srgbClr val="A3E635">
              <a:alpha val="18000"/>
            </a:srgbClr>
          </a:solidFill>
          <a:ln w="12700">
            <a:solidFill>
              <a:srgbClr val="A3E635">
                <a:alpha val="45000"/>
              </a:srgbClr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1448" y="4033784"/>
            <a:ext cx="253472" cy="253472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4151376" y="3849624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450" dirty="0"/>
          </a:p>
        </p:txBody>
      </p:sp>
      <p:sp>
        <p:nvSpPr>
          <p:cNvPr id="50" name="Text 40"/>
          <p:cNvSpPr/>
          <p:nvPr/>
        </p:nvSpPr>
        <p:spPr>
          <a:xfrm>
            <a:off x="4151376" y="41422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tune, evaluate &amp; serve a real model</a:t>
            </a:r>
            <a:endParaRPr lang="en-US" sz="1050" dirty="0"/>
          </a:p>
        </p:txBody>
      </p:sp>
      <p:sp>
        <p:nvSpPr>
          <p:cNvPr id="51" name="Text 41"/>
          <p:cNvSpPr/>
          <p:nvPr/>
        </p:nvSpPr>
        <p:spPr>
          <a:xfrm>
            <a:off x="502920" y="4791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pPr algn="l" indent="0" marL="0">
              <a:buNone/>
            </a:pPr>
            <a:r>
              <a:rPr lang="en-US" sz="850" spc="15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MACHINE LEARNING ENGINEERING</a:t>
            </a:r>
            <a:endParaRPr lang="en-US" sz="850" dirty="0"/>
          </a:p>
        </p:txBody>
      </p:sp>
      <p:sp>
        <p:nvSpPr>
          <p:cNvPr id="52" name="Text 42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850" dirty="0"/>
          </a:p>
        </p:txBody>
      </p:sp>
      <p:sp>
        <p:nvSpPr>
          <p:cNvPr id="53" name="Shape 43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WHY THIS MATTERS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NOT to use an LLM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spectacular, expensive hammer. For structured, high-volume, low-latency prediction, a gradient-boosted tree is faster, cheaper, and easier to trust.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3977640" cy="2468880"/>
          </a:xfrm>
          <a:prstGeom prst="roundRect">
            <a:avLst>
              <a:gd name="adj" fmla="val 3704"/>
            </a:avLst>
          </a:prstGeom>
          <a:solidFill>
            <a:srgbClr val="1B2340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212848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345436"/>
            <a:ext cx="192024" cy="192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2728" y="2212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 FOR CLASSICAL ML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3816" y="2852928"/>
            <a:ext cx="3429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/ structured data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&amp; fractions of a cent per call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or regulatory need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Small–medium labelled datasets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testable metrics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36592" y="2011680"/>
            <a:ext cx="3977640" cy="2468880"/>
          </a:xfrm>
          <a:prstGeom prst="roundRect">
            <a:avLst>
              <a:gd name="adj" fmla="val 3704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212848"/>
            <a:ext cx="457200" cy="457200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348" y="2345436"/>
            <a:ext cx="192024" cy="1920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212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 FOR AN LLM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47488" y="2852928"/>
            <a:ext cx="3429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text, images, audio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or zero labelled examples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reasoning, summarisation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or shifting task definitions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in, language out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02920" y="4791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pPr algn="l" indent="0" marL="0">
              <a:buNone/>
            </a:pPr>
            <a:r>
              <a:rPr lang="en-US" sz="850" spc="15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MACHINE LEARNING ENGINEERING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01 · DATA PREP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66928" cy="56692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" y="1737177"/>
            <a:ext cx="238110" cy="238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2728" y="155448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no leakage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52728" y="185623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ColumnTransformer bundle every step into a single object that fits on train only — the #1 way to avoid data leakage.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542032"/>
            <a:ext cx="566928" cy="56692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29" y="2706441"/>
            <a:ext cx="238110" cy="238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2728" y="2523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Per-type transforms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52728" y="282549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Numeric: impute → scale. Categorical: impute → one-hot / target-encode. Each column family handled correctly.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3511296"/>
            <a:ext cx="566928" cy="56692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" y="3675705"/>
            <a:ext cx="238110" cy="238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2728" y="349300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signal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52728" y="37947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Interactions, binning, datetime parts, ratios &amp; domain features often beat a fancier model on tabular data.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74920" y="1572768"/>
            <a:ext cx="3566160" cy="2432304"/>
          </a:xfrm>
          <a:prstGeom prst="roundRect">
            <a:avLst>
              <a:gd name="adj" fmla="val 2632"/>
            </a:avLst>
          </a:prstGeom>
          <a:solidFill>
            <a:srgbClr val="0E1428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221224" y="17007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3"/>
          <p:cNvSpPr/>
          <p:nvPr/>
        </p:nvSpPr>
        <p:spPr>
          <a:xfrm>
            <a:off x="5376672" y="17007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4"/>
          <p:cNvSpPr/>
          <p:nvPr/>
        </p:nvSpPr>
        <p:spPr>
          <a:xfrm>
            <a:off x="5532120" y="17007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Text 15"/>
          <p:cNvSpPr/>
          <p:nvPr/>
        </p:nvSpPr>
        <p:spPr>
          <a:xfrm>
            <a:off x="5276088" y="1901952"/>
            <a:ext cx="32004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sklearn.compose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ColumnTransformer</a:t>
            </a:r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 =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ColumnTransformer([</a:t>
            </a:r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"num"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num_pipe, num_cols),</a:t>
            </a:r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cat_pipe, cat_cols),</a:t>
            </a:r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Pipeline([</a:t>
            </a:r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"pre"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pre),</a:t>
            </a:r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"clf"</a:t>
            </a:r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LGBMClassifier())])</a:t>
            </a:r>
            <a:pPr algn="l" indent="0" marL="0">
              <a:lnSpc>
                <a:spcPct val="112000"/>
              </a:lnSpc>
              <a:buNone/>
            </a:pP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074920" y="411480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1B2340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30368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the pipeline, not the model. </a:t>
            </a:r>
            <a:pPr algn="l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must repeat training's exact preprocessing.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02920" y="4791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pPr algn="l" indent="0" marL="0">
              <a:buNone/>
            </a:pPr>
            <a:r>
              <a:rPr lang="en-US" sz="850" spc="15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MACHINE LEARNING ENGINEERING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02 · MODEL SELECTION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&amp; unsupervised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55648"/>
            <a:ext cx="475488" cy="475488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92" y="1893540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1016" y="17556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· Classification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22376" y="219456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· RandomForest · XGBoost / LightGBM · SVM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2376" y="2450592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fraud, spam, credit scoring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6592" y="1572768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1755648"/>
            <a:ext cx="475488" cy="47548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364" y="1893540"/>
            <a:ext cx="199705" cy="199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17556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· Regression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956048" y="219456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Ridge / Lasso · Gradient-boosted trees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956048" y="2450592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price, LTV, ETA prediction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2871216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054096"/>
            <a:ext cx="475488" cy="475488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2" y="3191988"/>
            <a:ext cx="199705" cy="1997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71016" y="305409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· Clustering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22376" y="349300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· DBSCAN · HDBSCAN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22376" y="374904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anomaly grouping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36592" y="2871216"/>
            <a:ext cx="3977640" cy="1170432"/>
          </a:xfrm>
          <a:prstGeom prst="roundRect">
            <a:avLst>
              <a:gd name="adj" fmla="val 781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19472" y="3054096"/>
            <a:ext cx="475488" cy="47548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364" y="3191988"/>
            <a:ext cx="199705" cy="19970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04688" y="305409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· Dimensionality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956048" y="349300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UMAP · t-SNE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956048" y="374904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Compression, visualisation, denoising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02920" y="4187952"/>
            <a:ext cx="8138160" cy="457200"/>
          </a:xfrm>
          <a:prstGeom prst="roundRect">
            <a:avLst>
              <a:gd name="adj" fmla="val 20000"/>
            </a:avLst>
          </a:prstGeom>
          <a:solidFill>
            <a:srgbClr val="1B234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7939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42416" y="41879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simple. </a:t>
            </a:r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(XGBoost, LightGBM) are still the workhorse for tabular data — add complexity only when it earns its keep.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02920" y="4791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pPr algn="l" indent="0" marL="0">
              <a:buNone/>
            </a:pPr>
            <a:r>
              <a:rPr lang="en-US" sz="850" spc="15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MACHINE LEARNING ENGINEERING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03 · REPRODUCIBILITY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— MLflow &amp; W&amp;B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isn't tracked, it didn't happen. Log params, metrics, artifacts, the git SHA and the data version for every run.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01952"/>
            <a:ext cx="3977640" cy="1874520"/>
          </a:xfrm>
          <a:prstGeom prst="roundRect">
            <a:avLst>
              <a:gd name="adj" fmla="val 3415"/>
            </a:avLst>
          </a:prstGeom>
          <a:solidFill>
            <a:srgbClr val="0E1428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2029968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029968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029968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231136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pPr algn="l" indent="0" marL="0">
              <a:lnSpc>
                <a:spcPct val="112000"/>
              </a:lnSpc>
              <a:buNone/>
            </a:pPr>
            <a:endParaRPr lang="en-US" sz="9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mlflow.autolog()</a:t>
            </a:r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sklearn, XGBoost, ...</a:t>
            </a:r>
            <a:pPr algn="l" indent="0" marL="0">
              <a:lnSpc>
                <a:spcPct val="112000"/>
              </a:lnSpc>
              <a:buNone/>
            </a:pPr>
            <a:endParaRPr lang="en-US" sz="980" dirty="0"/>
          </a:p>
          <a:p>
            <a:pPr algn="l" indent="0" marL="0">
              <a:lnSpc>
                <a:spcPct val="112000"/>
              </a:lnSpc>
              <a:buNone/>
            </a:pPr>
            <a:pPr algn="l" indent="0" marL="0">
              <a:lnSpc>
                <a:spcPct val="112000"/>
              </a:lnSpc>
              <a:buNone/>
            </a:pPr>
            <a:endParaRPr lang="en-US" sz="9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</a:t>
            </a:r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mlflow.start_run():</a:t>
            </a:r>
            <a:pPr algn="l" indent="0" marL="0">
              <a:lnSpc>
                <a:spcPct val="112000"/>
              </a:lnSpc>
              <a:buNone/>
            </a:pPr>
            <a:endParaRPr lang="en-US" sz="9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model.fit(X_train, y_train)</a:t>
            </a:r>
            <a:pPr algn="l" indent="0" marL="0">
              <a:lnSpc>
                <a:spcPct val="112000"/>
              </a:lnSpc>
              <a:buNone/>
            </a:pPr>
            <a:endParaRPr lang="en-US" sz="9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mlflow.log_metric(</a:t>
            </a:r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"pr_auc"</a:t>
            </a:r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s)</a:t>
            </a:r>
            <a:pPr algn="l" indent="0" marL="0">
              <a:lnSpc>
                <a:spcPct val="112000"/>
              </a:lnSpc>
              <a:buNone/>
            </a:pPr>
            <a:endParaRPr lang="en-US" sz="9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mlflow.sklearn.log_model(model, </a:t>
            </a:r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"m"</a:t>
            </a:r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709160" y="1901952"/>
            <a:ext cx="3931920" cy="877824"/>
          </a:xfrm>
          <a:prstGeom prst="roundRect">
            <a:avLst>
              <a:gd name="adj" fmla="val 10417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55464" y="2103120"/>
            <a:ext cx="475488" cy="475488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356" y="2241012"/>
            <a:ext cx="199705" cy="19970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40680" y="2029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40680" y="23042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Open-source · Apache 2.0</a:t>
            </a:r>
            <a:endParaRPr lang="en-US" sz="860" dirty="0"/>
          </a:p>
        </p:txBody>
      </p:sp>
      <p:sp>
        <p:nvSpPr>
          <p:cNvPr id="15" name="Text 12"/>
          <p:cNvSpPr/>
          <p:nvPr/>
        </p:nvSpPr>
        <p:spPr>
          <a:xfrm>
            <a:off x="5440680" y="25054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autolog · model registry · self-host or Databricks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4709160" y="2871216"/>
            <a:ext cx="3931920" cy="877824"/>
          </a:xfrm>
          <a:prstGeom prst="roundRect">
            <a:avLst>
              <a:gd name="adj" fmla="val 10417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55464" y="3072384"/>
            <a:ext cx="475488" cy="47548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356" y="3210276"/>
            <a:ext cx="199705" cy="19970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40680" y="29992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440680" y="32735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SaaS · polished UI</a:t>
            </a:r>
            <a:endParaRPr lang="en-US" sz="860" dirty="0"/>
          </a:p>
        </p:txBody>
      </p:sp>
      <p:sp>
        <p:nvSpPr>
          <p:cNvPr id="21" name="Text 17"/>
          <p:cNvSpPr/>
          <p:nvPr/>
        </p:nvSpPr>
        <p:spPr>
          <a:xfrm>
            <a:off x="5440680" y="3474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· Artifacts · Tables · per-seat pricing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502920" y="3950208"/>
            <a:ext cx="8138160" cy="530352"/>
          </a:xfrm>
          <a:prstGeom prst="roundRect">
            <a:avLst>
              <a:gd name="adj" fmla="val 17241"/>
            </a:avLst>
          </a:prstGeom>
          <a:solidFill>
            <a:srgbClr val="1B2340"/>
          </a:solidFill>
          <a:ln w="1524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85800" y="395020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the deliverable. </a:t>
            </a:r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tracked run lets you compare variants, roll back, and answer “why did last month's model win?” months later.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4791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pPr algn="l" indent="0" marL="0">
              <a:buNone/>
            </a:pPr>
            <a:r>
              <a:rPr lang="en-US" sz="850" spc="15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MACHINE LEARNING ENGINEERING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04 · OPTIMISATION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with Optuna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66928" cy="56692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" y="1737177"/>
            <a:ext cx="238110" cy="238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2728" y="155448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smarter, not harder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52728" y="18562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= exhaustive for tiny spaces. Random beats grid at scale. Optuna's Bayesian (TPE) sampler learns where to look next.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542032"/>
            <a:ext cx="566928" cy="56692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29" y="2706441"/>
            <a:ext cx="238110" cy="238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2728" y="2523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the losers early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52728" y="282549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stops unpromising trials mid-training — early stopping across the whole study means more compute for good candidates.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3511296"/>
            <a:ext cx="566928" cy="56692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" y="3675705"/>
            <a:ext cx="238110" cy="238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2728" y="349300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trial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52728" y="3794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MLflowCallback / OptunaSearchCV log each trial as a child run — the search itself becomes reproducible.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74920" y="1572768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0E1428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221224" y="17007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3"/>
          <p:cNvSpPr/>
          <p:nvPr/>
        </p:nvSpPr>
        <p:spPr>
          <a:xfrm>
            <a:off x="5376672" y="17007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4"/>
          <p:cNvSpPr/>
          <p:nvPr/>
        </p:nvSpPr>
        <p:spPr>
          <a:xfrm>
            <a:off x="5532120" y="17007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Text 15"/>
          <p:cNvSpPr/>
          <p:nvPr/>
        </p:nvSpPr>
        <p:spPr>
          <a:xfrm>
            <a:off x="5276088" y="1901952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optuna</a:t>
            </a:r>
            <a:pPr algn="l" indent="0" marL="0">
              <a:lnSpc>
                <a:spcPct val="112000"/>
              </a:lnSpc>
              <a:buNone/>
            </a:pPr>
            <a:endParaRPr lang="en-US" sz="930" dirty="0"/>
          </a:p>
          <a:p>
            <a:pPr algn="l" indent="0" marL="0">
              <a:lnSpc>
                <a:spcPct val="112000"/>
              </a:lnSpc>
              <a:buNone/>
            </a:pPr>
            <a:pPr algn="l" indent="0" marL="0">
              <a:lnSpc>
                <a:spcPct val="112000"/>
              </a:lnSpc>
              <a:buNone/>
            </a:pPr>
            <a:endParaRPr lang="en-US" sz="9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(trial):</a:t>
            </a:r>
            <a:pPr algn="l" indent="0" marL="0">
              <a:lnSpc>
                <a:spcPct val="112000"/>
              </a:lnSpc>
              <a:buNone/>
            </a:pPr>
            <a:endParaRPr lang="en-US" sz="9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 = trial.suggest_int(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"depth"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endParaRPr lang="en-US" sz="9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lr = trial.suggest_float(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"lr"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1e-3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endParaRPr lang="en-US" sz="9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cv_score(d, lr)</a:t>
            </a:r>
            <a:pPr algn="l" indent="0" marL="0">
              <a:lnSpc>
                <a:spcPct val="112000"/>
              </a:lnSpc>
              <a:buNone/>
            </a:pPr>
            <a:endParaRPr lang="en-US" sz="930" dirty="0"/>
          </a:p>
          <a:p>
            <a:pPr algn="l" indent="0" marL="0">
              <a:lnSpc>
                <a:spcPct val="112000"/>
              </a:lnSpc>
              <a:buNone/>
            </a:pPr>
            <a:pPr algn="l" indent="0" marL="0">
              <a:lnSpc>
                <a:spcPct val="112000"/>
              </a:lnSpc>
              <a:buNone/>
            </a:pPr>
            <a:endParaRPr lang="en-US" sz="9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 = optuna.create_study(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direction=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"maximize"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endParaRPr lang="en-US" sz="9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study.optimize(objective, n_trials=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endParaRPr lang="en-US" sz="930" dirty="0"/>
          </a:p>
        </p:txBody>
      </p:sp>
      <p:sp>
        <p:nvSpPr>
          <p:cNvPr id="21" name="Shape 16"/>
          <p:cNvSpPr/>
          <p:nvPr/>
        </p:nvSpPr>
        <p:spPr>
          <a:xfrm>
            <a:off x="5074920" y="4023360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1B2340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30368" y="4023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study.best_params </a:t>
            </a:r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feed straight into your final Pipeline.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02920" y="4791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pPr algn="l" indent="0" marL="0">
              <a:buNone/>
            </a:pPr>
            <a:r>
              <a:rPr lang="en-US" sz="850" spc="15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MACHINE LEARNING ENGINEERING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05 ·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beyond accuracy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1837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+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70048" y="1837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23682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32278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25880" y="2148840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2DD4BF">
              <a:alpha val="16000"/>
            </a:srgbClr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14884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70048" y="2148840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F472B6">
              <a:alpha val="16000"/>
            </a:srgbClr>
          </a:solidFill>
          <a:ln w="1524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214884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25880" y="3008376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F472B6">
              <a:alpha val="16000"/>
            </a:srgbClr>
          </a:solidFill>
          <a:ln w="1524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00837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670048" y="3008376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2DD4BF">
              <a:alpha val="16000"/>
            </a:srgbClr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300837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hides failure on imbalanced data: with 99% negatives, “always negative” scores 99%.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737360"/>
            <a:ext cx="3977640" cy="630936"/>
          </a:xfrm>
          <a:prstGeom prst="roundRect">
            <a:avLst>
              <a:gd name="adj" fmla="val 1449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2803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28032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6720840" y="1810512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everything flagged, how much was right — the cost of false alarms.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663440" y="2459736"/>
            <a:ext cx="3977640" cy="630936"/>
          </a:xfrm>
          <a:prstGeom prst="roundRect">
            <a:avLst>
              <a:gd name="adj" fmla="val 1449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25511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28032" y="28254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720840" y="253288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real positives, how many you caught — the cost of misses.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663440" y="3182112"/>
            <a:ext cx="3977640" cy="630936"/>
          </a:xfrm>
          <a:prstGeom prst="roundRect">
            <a:avLst>
              <a:gd name="adj" fmla="val 1449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28032" y="3547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harmonic mean of P &amp; R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720840" y="325526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when you care about both, on imbalanced classes.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663440" y="3904488"/>
            <a:ext cx="3977640" cy="630936"/>
          </a:xfrm>
          <a:prstGeom prst="roundRect">
            <a:avLst>
              <a:gd name="adj" fmla="val 14493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28032" y="3995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/ PR-AUC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828032" y="42702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 quality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6720840" y="397764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is the honest choice when positives are rare.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02920" y="4791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pPr algn="l" indent="0" marL="0">
              <a:buNone/>
            </a:pPr>
            <a:r>
              <a:rPr lang="en-US" sz="850" spc="15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MACHINE LEARNING ENGINEERING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06 · ROBUSTNESS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imbalance, drift &amp; distribution shift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91056"/>
            <a:ext cx="3977640" cy="2286000"/>
          </a:xfrm>
          <a:prstGeom prst="roundRect">
            <a:avLst>
              <a:gd name="adj" fmla="val 4000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92224"/>
            <a:ext cx="457200" cy="45720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924812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7922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3816" y="237744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classes (class_weight)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Resample: SMOTE / under-sample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threshold, not just 0.5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with PR-AUC, not accuracy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stratified, every time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36592" y="1591056"/>
            <a:ext cx="3977640" cy="2286000"/>
          </a:xfrm>
          <a:prstGeom prst="roundRect">
            <a:avLst>
              <a:gd name="adj" fmla="val 4000"/>
            </a:avLst>
          </a:prstGeom>
          <a:solidFill>
            <a:srgbClr val="141A31"/>
          </a:solidFill>
          <a:ln w="1778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792224"/>
            <a:ext cx="457200" cy="45720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348" y="1924812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7922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CONCEPT DRIFT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47488" y="237744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drift: P(X) shifts over time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drift: P(Y|X) shifts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PSI · KS · Chi-square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Evidently · NannyML · Alibi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→ alert → retrain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4041648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1B234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85800" y="404164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read: </a:t>
            </a:r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&lt;0.1 stable   ·   0.1–0.2 investigate   ·   &gt;0.2 retrain.  </a:t>
            </a:r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data + model so every deploy is reversible.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" y="4791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pPr algn="l" indent="0" marL="0">
              <a:buNone/>
            </a:pPr>
            <a:r>
              <a:rPr lang="en-US" sz="850" spc="15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MACHINE LEARNING ENGINEERING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PILLAR 07 · DEPLOYMENT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serving classical ML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66928" cy="566928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" y="1737177"/>
            <a:ext cx="238110" cy="238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2728" y="155448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whole pipeline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52728" y="18562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fitted Pipeline with joblib, an MLflow model, skops or ONNX — preprocessing and estimator travel together.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542032"/>
            <a:ext cx="566928" cy="56692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29" y="2706441"/>
            <a:ext cx="238110" cy="238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2728" y="2523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it in FastAPI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52728" y="282549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model once at startup, validate I/O with Pydantic, expose /predict — the Day 1 pattern, applied to ML.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3511296"/>
            <a:ext cx="566928" cy="566928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" y="3675705"/>
            <a:ext cx="238110" cy="238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2728" y="349300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&amp; containerise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52728" y="3794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the model artifact, ship it in Docker, add health checks. Batch or real-time, the artifact is immutable.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74920" y="1572768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0E1428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221224" y="1700784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3"/>
          <p:cNvSpPr/>
          <p:nvPr/>
        </p:nvSpPr>
        <p:spPr>
          <a:xfrm>
            <a:off x="5376672" y="1700784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4"/>
          <p:cNvSpPr/>
          <p:nvPr/>
        </p:nvSpPr>
        <p:spPr>
          <a:xfrm>
            <a:off x="5532120" y="1700784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Text 15"/>
          <p:cNvSpPr/>
          <p:nvPr/>
        </p:nvSpPr>
        <p:spPr>
          <a:xfrm>
            <a:off x="5276088" y="1901952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pPr algn="l" indent="0" marL="0">
              <a:lnSpc>
                <a:spcPct val="112000"/>
              </a:lnSpc>
              <a:buNone/>
            </a:pPr>
            <a:endParaRPr lang="en-US" sz="890" dirty="0"/>
          </a:p>
          <a:p>
            <a:pPr algn="l" indent="0" marL="0">
              <a:lnSpc>
                <a:spcPct val="112000"/>
              </a:lnSpc>
              <a:buNone/>
            </a:pPr>
            <a:pPr algn="l" indent="0" marL="0">
              <a:lnSpc>
                <a:spcPct val="112000"/>
              </a:lnSpc>
              <a:buNone/>
            </a:pPr>
            <a:endParaRPr lang="en-US" sz="89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joblib.load(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"pipeline.pkl"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endParaRPr lang="en-US" sz="89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FastAPI()</a:t>
            </a:r>
            <a:pPr algn="l" indent="0" marL="0">
              <a:lnSpc>
                <a:spcPct val="112000"/>
              </a:lnSpc>
              <a:buNone/>
            </a:pPr>
            <a:endParaRPr lang="en-US" sz="890" dirty="0"/>
          </a:p>
          <a:p>
            <a:pPr algn="l" indent="0" marL="0">
              <a:lnSpc>
                <a:spcPct val="112000"/>
              </a:lnSpc>
              <a:buNone/>
            </a:pPr>
            <a:pPr algn="l" indent="0" marL="0">
              <a:lnSpc>
                <a:spcPct val="112000"/>
              </a:lnSpc>
              <a:buNone/>
            </a:pPr>
            <a:endParaRPr lang="en-US" sz="89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"/predict"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response_model=Out)</a:t>
            </a:r>
            <a:pPr algn="l" indent="0" marL="0">
              <a:lnSpc>
                <a:spcPct val="112000"/>
              </a:lnSpc>
              <a:buNone/>
            </a:pPr>
            <a:endParaRPr lang="en-US" sz="89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(req: Features):</a:t>
            </a:r>
            <a:pPr algn="l" indent="0" marL="0">
              <a:lnSpc>
                <a:spcPct val="112000"/>
              </a:lnSpc>
              <a:buNone/>
            </a:pPr>
            <a:endParaRPr lang="en-US" sz="89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model.predict_proba([req.row])</a:t>
            </a:r>
            <a:pPr algn="l" indent="0" marL="0">
              <a:lnSpc>
                <a:spcPct val="112000"/>
              </a:lnSpc>
              <a:buNone/>
            </a:pPr>
            <a:endParaRPr lang="en-US" sz="89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Out(score=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(p[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AEB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  <a:pPr algn="l" indent="0" marL="0">
              <a:lnSpc>
                <a:spcPct val="112000"/>
              </a:lnSpc>
              <a:buNone/>
            </a:pP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5074920" y="4023360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1B2340"/>
          </a:solidFill>
          <a:ln w="15240">
            <a:solidFill>
              <a:srgbClr val="A3E6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30368" y="4023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</a:t>
            </a:r>
            <a:pPr algn="l" indent="0" marL="0">
              <a:buNone/>
            </a:pPr>
            <a:r>
              <a:rPr lang="en-US" sz="93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the pipeline, never a bare estimator — or prod preprocessing silently drifts from training.</a:t>
            </a:r>
            <a:endParaRPr lang="en-US" sz="930" dirty="0"/>
          </a:p>
        </p:txBody>
      </p:sp>
      <p:sp>
        <p:nvSpPr>
          <p:cNvPr id="23" name="Text 18"/>
          <p:cNvSpPr/>
          <p:nvPr/>
        </p:nvSpPr>
        <p:spPr>
          <a:xfrm>
            <a:off x="502920" y="4791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pPr algn="l" indent="0" marL="0">
              <a:buNone/>
            </a:pPr>
            <a:r>
              <a:rPr lang="en-US" sz="850" spc="15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MACHINE LEARNING ENGINEERING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PUTTING IT TOGETHER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&amp;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141A31"/>
          </a:solidFill>
          <a:ln w="17780">
            <a:solidFill>
              <a:srgbClr val="A3E6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73936"/>
            <a:ext cx="512064" cy="512064"/>
          </a:xfrm>
          <a:prstGeom prst="ellipse">
            <a:avLst/>
          </a:prstGeom>
          <a:solidFill>
            <a:srgbClr val="A3E635">
              <a:alpha val="18000"/>
            </a:srgbClr>
          </a:solidFill>
          <a:ln w="12700">
            <a:solidFill>
              <a:srgbClr val="A3E635">
                <a:alpha val="4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99" y="1922435"/>
            <a:ext cx="215067" cy="215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8105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TODAY'S BUILD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395728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sklearn Pipeline (ColumnTransformer + GBM)</a:t>
            </a:r>
            <a:endParaRPr lang="en-US" sz="1150" dirty="0"/>
          </a:p>
          <a:p>
            <a:pPr algn="l" marL="228600" indent="-2286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it with Optuna, log trials to MLflow</a:t>
            </a:r>
            <a:endParaRPr lang="en-US" sz="1150" dirty="0"/>
          </a:p>
          <a:p>
            <a:pPr algn="l" marL="228600" indent="-2286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precision, recall, F1 &amp; PR-AUC</a:t>
            </a:r>
            <a:endParaRPr lang="en-US" sz="1150" dirty="0"/>
          </a:p>
          <a:p>
            <a:pPr algn="l" marL="228600" indent="-2286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holdout batch for drift (PSI)</a:t>
            </a:r>
            <a:endParaRPr lang="en-US" sz="1150" dirty="0"/>
          </a:p>
          <a:p>
            <a:pPr algn="l" marL="228600" indent="-2286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fitted pipeline with joblib</a:t>
            </a:r>
            <a:endParaRPr lang="en-US" sz="1150" dirty="0"/>
          </a:p>
          <a:p>
            <a:pPr algn="l" marL="228600" indent="-2286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/predict through a FastAPI endpoint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46320" y="1572768"/>
            <a:ext cx="3794760" cy="649224"/>
          </a:xfrm>
          <a:prstGeom prst="roundRect">
            <a:avLst>
              <a:gd name="adj" fmla="val 14085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74336" y="1691640"/>
            <a:ext cx="420624" cy="420624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317" y="1813621"/>
            <a:ext cx="176662" cy="1766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prevent leakage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504688" y="1911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train, serve the whole thing.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846320" y="2313432"/>
            <a:ext cx="3794760" cy="649224"/>
          </a:xfrm>
          <a:prstGeom prst="roundRect">
            <a:avLst>
              <a:gd name="adj" fmla="val 14085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74336" y="2432304"/>
            <a:ext cx="420624" cy="420624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317" y="2554285"/>
            <a:ext cx="176662" cy="1766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04688" y="2386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everything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504688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non-negotiable.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846320" y="3054096"/>
            <a:ext cx="3794760" cy="649224"/>
          </a:xfrm>
          <a:prstGeom prst="roundRect">
            <a:avLst>
              <a:gd name="adj" fmla="val 14085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74336" y="3172968"/>
            <a:ext cx="420624" cy="420624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317" y="3294949"/>
            <a:ext cx="176662" cy="1766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04688" y="3127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metric to cost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504688" y="3392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will mislead you.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846320" y="3794760"/>
            <a:ext cx="3794760" cy="649224"/>
          </a:xfrm>
          <a:prstGeom prst="roundRect">
            <a:avLst>
              <a:gd name="adj" fmla="val 14085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74336" y="3913632"/>
            <a:ext cx="420624" cy="420624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6317" y="4035613"/>
            <a:ext cx="176662" cy="1766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04688" y="3867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decay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504688" y="4133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drift and plan to retrain.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02920" y="4791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pPr algn="l" indent="0" marL="0">
              <a:buNone/>
            </a:pPr>
            <a:r>
              <a:rPr lang="en-US" sz="850" spc="150" kern="0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MACHINE LEARNING ENGINEERING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76809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37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7571232" y="4878324"/>
            <a:ext cx="54864" cy="54864"/>
          </a:xfrm>
          <a:prstGeom prst="ellipse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END OF DAY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54203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thorniest cases — imbalanced targets, silent drift, models that aced validation and flopped in prod. That's the real work.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364992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141A31"/>
          </a:solidFill>
          <a:ln w="12700">
            <a:solidFill>
              <a:srgbClr val="2A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3602736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6" y="3761842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5295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71600" y="3913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in, tracked, tuned and served.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3364992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1B2340"/>
          </a:solidFill>
          <a:ln w="1651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3511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UP · DAY 03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3749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Neural Nets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46320" y="40599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transformers &amp; training networks from scratch.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02 — Machine Learning Engineering: Applied Production Skills</dc:title>
  <dc:subject>PptxGenJS Presentation</dc:subject>
  <dc:creator>AI Engineering Workshop</dc:creator>
  <cp:lastModifiedBy>AI Engineering Workshop</cp:lastModifiedBy>
  <cp:revision>1</cp:revision>
  <dcterms:created xsi:type="dcterms:W3CDTF">2026-07-05T08:33:13Z</dcterms:created>
  <dcterms:modified xsi:type="dcterms:W3CDTF">2026-07-05T08:33:13Z</dcterms:modified>
</cp:coreProperties>
</file>