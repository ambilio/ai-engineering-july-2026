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57" r:id="rId12"/>
    <p:sldId id="258" r:id="rId13"/>
    <p:sldId id="281" r:id="rId14"/>
    <p:sldId id="282" r:id="rId15"/>
    <p:sldId id="259" r:id="rId16"/>
    <p:sldId id="283" r:id="rId17"/>
    <p:sldId id="284" r:id="rId18"/>
    <p:sldId id="285" r:id="rId19"/>
    <p:sldId id="286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BE"/>
    <a:srgbClr val="034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447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65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703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https://www.kaggle.com/learn/data-visualization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01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https://www.kaggle.com/learn/intro-to-machine-learning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361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https://www.kaggle.com/learn/feature-engineering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6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https://www.kaggle.com/learn/computer-vision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894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https://www.kaggle.com/learn-guide/intermediate-nlp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6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https://www.kaggle.com/learn-guide/model-evaluation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1D3DD-D254-4064-A854-DB8623DC871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908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https://www.asyncapi.com/docs/tutorials/websocket</a:t>
            </a:r>
          </a:p>
        </p:txBody>
      </p:sp>
    </p:spTree>
    <p:extLst>
      <p:ext uri="{BB962C8B-B14F-4D97-AF65-F5344CB8AC3E}">
        <p14:creationId xmlns:p14="http://schemas.microsoft.com/office/powerpoint/2010/main" val="931865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250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https://www.asyncapi.com/docs/tutorials/websocket/websocket-request-reply</a:t>
            </a:r>
          </a:p>
        </p:txBody>
      </p:sp>
    </p:spTree>
    <p:extLst>
      <p:ext uri="{BB962C8B-B14F-4D97-AF65-F5344CB8AC3E}">
        <p14:creationId xmlns:p14="http://schemas.microsoft.com/office/powerpoint/2010/main" val="545049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https://www.asyncapi.com/docs/tutorials/kafka</a:t>
            </a:r>
          </a:p>
        </p:txBody>
      </p:sp>
    </p:spTree>
    <p:extLst>
      <p:ext uri="{BB962C8B-B14F-4D97-AF65-F5344CB8AC3E}">
        <p14:creationId xmlns:p14="http://schemas.microsoft.com/office/powerpoint/2010/main" val="333113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C7810-EBC0-3138-42EF-A112BEFE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F6985-5F54-4924-9FEF-ECFCC96879D9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CC4CF-0BCF-DBE4-B650-C4359C1C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573B8-C86D-DF95-A46B-67E26116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753B-8E5D-4742-83B5-C8EF66DAB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9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07813"/>
            <a:ext cx="7498080" cy="10356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96000"/>
              </a:lnSpc>
              <a:spcBef>
                <a:spcPts val="360"/>
              </a:spcBef>
            </a:pPr>
            <a:r>
              <a:rPr lang="en-US" sz="2880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Engineering Foundations for AI Systems 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1839BCF-FEDF-CAC4-543B-C861ED87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780" y="0"/>
            <a:ext cx="252222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B54D6-1D66-33F3-5F23-F6459E74C4DF}"/>
              </a:ext>
            </a:extLst>
          </p:cNvPr>
          <p:cNvSpPr txBox="1"/>
          <p:nvPr/>
        </p:nvSpPr>
        <p:spPr>
          <a:xfrm>
            <a:off x="435429" y="714988"/>
            <a:ext cx="7674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Introduction to Python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A quick introduction to Python syntax, variable assignment, and numbers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Functions and Getting Help</a:t>
            </a:r>
          </a:p>
          <a:p>
            <a:r>
              <a:rPr lang="en-US" sz="1200" dirty="0">
                <a:solidFill>
                  <a:schemeClr val="bg1"/>
                </a:solidFill>
              </a:rPr>
              <a:t>Calling functions and defining our own, and using Python's </a:t>
            </a:r>
            <a:r>
              <a:rPr lang="en-US" sz="1200" dirty="0" err="1">
                <a:solidFill>
                  <a:schemeClr val="bg1"/>
                </a:solidFill>
              </a:rPr>
              <a:t>builtin</a:t>
            </a:r>
            <a:r>
              <a:rPr lang="en-US" sz="1200" dirty="0">
                <a:solidFill>
                  <a:schemeClr val="bg1"/>
                </a:solidFill>
              </a:rPr>
              <a:t> documentation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Booleans and Conditionals</a:t>
            </a:r>
          </a:p>
          <a:p>
            <a:r>
              <a:rPr lang="en-US" sz="1200" dirty="0">
                <a:solidFill>
                  <a:schemeClr val="bg1"/>
                </a:solidFill>
              </a:rPr>
              <a:t>Using </a:t>
            </a:r>
            <a:r>
              <a:rPr lang="en-US" sz="1200" dirty="0" err="1">
                <a:solidFill>
                  <a:schemeClr val="bg1"/>
                </a:solidFill>
              </a:rPr>
              <a:t>booleans</a:t>
            </a:r>
            <a:r>
              <a:rPr lang="en-US" sz="1200" dirty="0">
                <a:solidFill>
                  <a:schemeClr val="bg1"/>
                </a:solidFill>
              </a:rPr>
              <a:t> for branching logic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Lists</a:t>
            </a:r>
          </a:p>
          <a:p>
            <a:r>
              <a:rPr lang="en-US" sz="1200" dirty="0">
                <a:solidFill>
                  <a:schemeClr val="bg1"/>
                </a:solidFill>
              </a:rPr>
              <a:t>Lists and the things you can do with them. Includes indexing, slicing and mutating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Loops and List Comprehensions</a:t>
            </a:r>
          </a:p>
          <a:p>
            <a:r>
              <a:rPr lang="en-US" sz="1200" dirty="0">
                <a:solidFill>
                  <a:schemeClr val="bg1"/>
                </a:solidFill>
              </a:rPr>
              <a:t>For and while loops, and a much-loved Python feature: list comprehensions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Strings and Dictionaries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Working with strings and dictionaries, two fundamental Python data types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Working with External Libraries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Imports, operator overloading, and survival tips for venturing into the world of external libraries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C0D7F-DB0B-E8C3-1B84-37C3C40569EE}"/>
              </a:ext>
            </a:extLst>
          </p:cNvPr>
          <p:cNvSpPr txBox="1"/>
          <p:nvPr/>
        </p:nvSpPr>
        <p:spPr>
          <a:xfrm>
            <a:off x="435428" y="365861"/>
            <a:ext cx="4572000" cy="4129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Introduction to Python</a:t>
            </a:r>
          </a:p>
        </p:txBody>
      </p:sp>
    </p:spTree>
    <p:extLst>
      <p:ext uri="{BB962C8B-B14F-4D97-AF65-F5344CB8AC3E}">
        <p14:creationId xmlns:p14="http://schemas.microsoft.com/office/powerpoint/2010/main" val="180351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F99BA64-0EC5-F58F-301D-CC3A6289B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30CEC-4D90-7AA0-6233-100FBB5959DD}"/>
              </a:ext>
            </a:extLst>
          </p:cNvPr>
          <p:cNvSpPr txBox="1"/>
          <p:nvPr/>
        </p:nvSpPr>
        <p:spPr>
          <a:xfrm>
            <a:off x="587829" y="1135468"/>
            <a:ext cx="6346372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Creating, Reading and Writing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Indexing, Selecting &amp; Assigning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Summary Functions and Maps</a:t>
            </a:r>
          </a:p>
          <a:p>
            <a:r>
              <a:rPr lang="en-US" sz="1350" dirty="0">
                <a:solidFill>
                  <a:schemeClr val="bg1"/>
                </a:solidFill>
              </a:rPr>
              <a:t>Extract insights from your data.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Grouping and Sorting</a:t>
            </a:r>
          </a:p>
          <a:p>
            <a:r>
              <a:rPr lang="en-US" sz="1350" dirty="0">
                <a:solidFill>
                  <a:schemeClr val="bg1"/>
                </a:solidFill>
              </a:rPr>
              <a:t>Scale up your level of insight. The more complex the dataset, the more this matters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Data Types and Missing Values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Deal with the most common progress-blocking problems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Renaming and Combining</a:t>
            </a:r>
          </a:p>
          <a:p>
            <a:r>
              <a:rPr lang="en-US" sz="1350" dirty="0">
                <a:solidFill>
                  <a:schemeClr val="bg1"/>
                </a:solidFill>
              </a:rPr>
              <a:t>Data comes in from many sources. Help it all make sense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235B7-6162-7ACE-51CB-765B99850DF4}"/>
              </a:ext>
            </a:extLst>
          </p:cNvPr>
          <p:cNvSpPr txBox="1"/>
          <p:nvPr/>
        </p:nvSpPr>
        <p:spPr>
          <a:xfrm>
            <a:off x="435428" y="365861"/>
            <a:ext cx="4572000" cy="4129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Introduction to Pandas</a:t>
            </a:r>
          </a:p>
        </p:txBody>
      </p:sp>
    </p:spTree>
    <p:extLst>
      <p:ext uri="{BB962C8B-B14F-4D97-AF65-F5344CB8AC3E}">
        <p14:creationId xmlns:p14="http://schemas.microsoft.com/office/powerpoint/2010/main" val="89131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08A869-C880-53DC-EBDA-04D33B431AD9}"/>
              </a:ext>
            </a:extLst>
          </p:cNvPr>
          <p:cNvSpPr txBox="1"/>
          <p:nvPr/>
        </p:nvSpPr>
        <p:spPr>
          <a:xfrm>
            <a:off x="370114" y="705022"/>
            <a:ext cx="8011886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Seaborn</a:t>
            </a:r>
          </a:p>
          <a:p>
            <a:r>
              <a:rPr lang="en-US" sz="1350" dirty="0">
                <a:solidFill>
                  <a:schemeClr val="bg1"/>
                </a:solidFill>
              </a:rPr>
              <a:t>Your first introduction to coding for data visualization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Line Charts</a:t>
            </a:r>
          </a:p>
          <a:p>
            <a:r>
              <a:rPr lang="en-US" sz="1350" dirty="0">
                <a:solidFill>
                  <a:schemeClr val="bg1"/>
                </a:solidFill>
              </a:rPr>
              <a:t>Visualize trends over time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Bar Charts and Heatmaps</a:t>
            </a:r>
          </a:p>
          <a:p>
            <a:r>
              <a:rPr lang="en-US" sz="1350" dirty="0">
                <a:solidFill>
                  <a:schemeClr val="bg1"/>
                </a:solidFill>
              </a:rPr>
              <a:t>Use color or length to compare categories in a dataset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Scatter Plots</a:t>
            </a:r>
          </a:p>
          <a:p>
            <a:r>
              <a:rPr lang="en-US" sz="1350" dirty="0">
                <a:solidFill>
                  <a:schemeClr val="bg1"/>
                </a:solidFill>
              </a:rPr>
              <a:t>Leverage the coordinate plane to explore relationships between variables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Distributions</a:t>
            </a:r>
          </a:p>
          <a:p>
            <a:r>
              <a:rPr lang="en-US" sz="1350" dirty="0">
                <a:solidFill>
                  <a:schemeClr val="bg1"/>
                </a:solidFill>
              </a:rPr>
              <a:t>Create histograms and density plots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Choosing Plot Types and Custom Styles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Customize your charts and make them look snazzy</a:t>
            </a:r>
          </a:p>
          <a:p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11020-FC6A-EDDA-934B-B29732EA4F6A}"/>
              </a:ext>
            </a:extLst>
          </p:cNvPr>
          <p:cNvSpPr txBox="1"/>
          <p:nvPr/>
        </p:nvSpPr>
        <p:spPr>
          <a:xfrm>
            <a:off x="370115" y="352041"/>
            <a:ext cx="4572000" cy="48083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Data Visualization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FB8E463-0B6F-0562-0B09-BCF11DDDF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9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3B747A-D9F7-648B-E2E7-472241100F50}"/>
              </a:ext>
            </a:extLst>
          </p:cNvPr>
          <p:cNvSpPr txBox="1"/>
          <p:nvPr/>
        </p:nvSpPr>
        <p:spPr>
          <a:xfrm>
            <a:off x="402771" y="599054"/>
            <a:ext cx="857794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Models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first step if you're new to machine learning.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Basic Data Exploration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Load and understand your data.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Your First Machine Learning Model</a:t>
            </a:r>
          </a:p>
          <a:p>
            <a:r>
              <a:rPr lang="en-US" sz="1200" dirty="0">
                <a:solidFill>
                  <a:schemeClr val="bg1"/>
                </a:solidFill>
              </a:rPr>
              <a:t>Building your first model.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Model Validation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Measure the performance of your model, so you can test and compare alternatives.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Underfitting and Overfitting</a:t>
            </a:r>
          </a:p>
          <a:p>
            <a:r>
              <a:rPr lang="en-US" sz="1200" dirty="0">
                <a:solidFill>
                  <a:schemeClr val="bg1"/>
                </a:solidFill>
              </a:rPr>
              <a:t>Fine-tune your model for better performance.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Random Forests</a:t>
            </a:r>
          </a:p>
          <a:p>
            <a:r>
              <a:rPr lang="en-US" sz="1200" dirty="0">
                <a:solidFill>
                  <a:schemeClr val="bg1"/>
                </a:solidFill>
              </a:rPr>
              <a:t>Using a more sophisticated machine learning algorithm.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9C088-EB37-821A-0863-9A0111B94233}"/>
              </a:ext>
            </a:extLst>
          </p:cNvPr>
          <p:cNvSpPr txBox="1"/>
          <p:nvPr/>
        </p:nvSpPr>
        <p:spPr>
          <a:xfrm>
            <a:off x="402771" y="252806"/>
            <a:ext cx="4572000" cy="3693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Introduction to Machine Learning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540CDA8-C0B3-94DD-55E1-0AB132B35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0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47381-2F55-C474-8CC4-A44E933E6D67}"/>
              </a:ext>
            </a:extLst>
          </p:cNvPr>
          <p:cNvSpPr txBox="1"/>
          <p:nvPr/>
        </p:nvSpPr>
        <p:spPr>
          <a:xfrm>
            <a:off x="337457" y="253495"/>
            <a:ext cx="4572000" cy="3693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Intermediate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1D150-7B8B-A903-2F71-DA38E3CCE8C9}"/>
              </a:ext>
            </a:extLst>
          </p:cNvPr>
          <p:cNvSpPr txBox="1"/>
          <p:nvPr/>
        </p:nvSpPr>
        <p:spPr>
          <a:xfrm>
            <a:off x="337458" y="763030"/>
            <a:ext cx="8066314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Introduction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Missing Values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Missing values happen. Be prepared for this common challenge in real datasets.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Categorical Variables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There's a lot of non-numeric data out there. Here's how to use it for machine learning.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Pipelines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A critical skill for deploying (and even testing) complex models with pre-processing.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Cross-Validation</a:t>
            </a:r>
          </a:p>
          <a:p>
            <a:r>
              <a:rPr lang="en-US" sz="1350" dirty="0">
                <a:solidFill>
                  <a:schemeClr val="bg1"/>
                </a:solidFill>
              </a:rPr>
              <a:t>A better way to test your models.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chemeClr val="bg1"/>
                </a:solidFill>
              </a:rPr>
              <a:t>XGBoost</a:t>
            </a:r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The most accurate modeling technique for structured data.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Data Leakage</a:t>
            </a:r>
          </a:p>
          <a:p>
            <a:r>
              <a:rPr lang="en-US" sz="1350" dirty="0">
                <a:solidFill>
                  <a:schemeClr val="bg1"/>
                </a:solidFill>
              </a:rPr>
              <a:t>Find and fix this problem that ruins your model in subtle ways.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FAEADAB-74F5-5682-16F5-9EF0D2FA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3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5312E8-3C95-E1E3-7738-80DA120F642C}"/>
              </a:ext>
            </a:extLst>
          </p:cNvPr>
          <p:cNvSpPr txBox="1"/>
          <p:nvPr/>
        </p:nvSpPr>
        <p:spPr>
          <a:xfrm>
            <a:off x="413657" y="362352"/>
            <a:ext cx="4572000" cy="3693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AF368-8B36-E914-A371-A064DEA76C8D}"/>
              </a:ext>
            </a:extLst>
          </p:cNvPr>
          <p:cNvSpPr txBox="1"/>
          <p:nvPr/>
        </p:nvSpPr>
        <p:spPr>
          <a:xfrm>
            <a:off x="566057" y="731402"/>
            <a:ext cx="4572000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What Is Feature Engineering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Mutual Information</a:t>
            </a:r>
          </a:p>
          <a:p>
            <a:r>
              <a:rPr lang="en-US" sz="1350" dirty="0">
                <a:solidFill>
                  <a:schemeClr val="bg1"/>
                </a:solidFill>
              </a:rPr>
              <a:t>Locate features with the most potential.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Creating Features</a:t>
            </a:r>
          </a:p>
          <a:p>
            <a:r>
              <a:rPr lang="en-US" sz="1350" dirty="0">
                <a:solidFill>
                  <a:schemeClr val="bg1"/>
                </a:solidFill>
              </a:rPr>
              <a:t>Transform features with Pandas to suit your model.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Clustering With K-Means</a:t>
            </a:r>
          </a:p>
          <a:p>
            <a:r>
              <a:rPr lang="en-US" sz="1350" dirty="0">
                <a:solidFill>
                  <a:schemeClr val="bg1"/>
                </a:solidFill>
              </a:rPr>
              <a:t>Untangle complex spatial relationships with cluster labels.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Principal Component Analysis</a:t>
            </a:r>
          </a:p>
          <a:p>
            <a:r>
              <a:rPr lang="en-US" sz="1350" dirty="0">
                <a:solidFill>
                  <a:schemeClr val="bg1"/>
                </a:solidFill>
              </a:rPr>
              <a:t>Discover new features by analyzing variation.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Target Encoding</a:t>
            </a:r>
          </a:p>
          <a:p>
            <a:r>
              <a:rPr lang="en-US" sz="1350" dirty="0">
                <a:solidFill>
                  <a:schemeClr val="bg1"/>
                </a:solidFill>
              </a:rPr>
              <a:t>Boost any categorical feature with this powerful technique.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231AF1B-5DFD-4C62-1CB7-156A55F8E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1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CFE463A-EAFD-79CF-914E-55CD9C1AB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A44F26-9F4C-F80B-5DC0-A0A45F01A33A}"/>
              </a:ext>
            </a:extLst>
          </p:cNvPr>
          <p:cNvSpPr txBox="1"/>
          <p:nvPr/>
        </p:nvSpPr>
        <p:spPr>
          <a:xfrm>
            <a:off x="326572" y="275266"/>
            <a:ext cx="4572000" cy="3693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Computer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E675A-6349-B1F0-E9E0-DF7F27EADBE0}"/>
              </a:ext>
            </a:extLst>
          </p:cNvPr>
          <p:cNvSpPr txBox="1"/>
          <p:nvPr/>
        </p:nvSpPr>
        <p:spPr>
          <a:xfrm>
            <a:off x="402772" y="771258"/>
            <a:ext cx="7685314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The Convolutional Classifier</a:t>
            </a:r>
          </a:p>
          <a:p>
            <a:r>
              <a:rPr lang="en-US" sz="1350" dirty="0">
                <a:solidFill>
                  <a:schemeClr val="bg1"/>
                </a:solidFill>
              </a:rPr>
              <a:t>Create your computer vision model with </a:t>
            </a:r>
            <a:r>
              <a:rPr lang="en-US" sz="1350" dirty="0" err="1">
                <a:solidFill>
                  <a:schemeClr val="bg1"/>
                </a:solidFill>
              </a:rPr>
              <a:t>Keras</a:t>
            </a:r>
            <a:r>
              <a:rPr lang="en-US" sz="1350" dirty="0">
                <a:solidFill>
                  <a:schemeClr val="bg1"/>
                </a:solidFill>
              </a:rPr>
              <a:t>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Convolution and </a:t>
            </a:r>
            <a:r>
              <a:rPr lang="en-US" sz="1350" dirty="0" err="1">
                <a:solidFill>
                  <a:schemeClr val="bg1"/>
                </a:solidFill>
              </a:rPr>
              <a:t>ReLU</a:t>
            </a:r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Discover how convnets create features with convolutional layers.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Maximum Pooling</a:t>
            </a:r>
          </a:p>
          <a:p>
            <a:r>
              <a:rPr lang="en-US" sz="1350" dirty="0">
                <a:solidFill>
                  <a:schemeClr val="bg1"/>
                </a:solidFill>
              </a:rPr>
              <a:t>Learn more about feature extraction with maximum pooling.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The Sliding Window</a:t>
            </a:r>
          </a:p>
          <a:p>
            <a:r>
              <a:rPr lang="en-US" sz="1350" dirty="0">
                <a:solidFill>
                  <a:schemeClr val="bg1"/>
                </a:solidFill>
              </a:rPr>
              <a:t>Explore two important parameters: stride and padding.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Custom Convnets</a:t>
            </a:r>
          </a:p>
          <a:p>
            <a:r>
              <a:rPr lang="en-US" sz="1350" dirty="0">
                <a:solidFill>
                  <a:schemeClr val="bg1"/>
                </a:solidFill>
              </a:rPr>
              <a:t>Design your own convnet.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Data Augmentation</a:t>
            </a:r>
          </a:p>
          <a:p>
            <a:r>
              <a:rPr lang="en-US" sz="1350" dirty="0">
                <a:solidFill>
                  <a:schemeClr val="bg1"/>
                </a:solidFill>
              </a:rPr>
              <a:t>Boost performance by creating extra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66353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9E7D34F-AC4A-F51B-2BAC-B92EDCB33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F8806C-59D7-F1EC-BD7F-34B1733A381A}"/>
              </a:ext>
            </a:extLst>
          </p:cNvPr>
          <p:cNvSpPr txBox="1"/>
          <p:nvPr/>
        </p:nvSpPr>
        <p:spPr>
          <a:xfrm>
            <a:off x="391886" y="685051"/>
            <a:ext cx="79465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Module 1: Word Embeddings: </a:t>
            </a:r>
          </a:p>
          <a:p>
            <a:r>
              <a:rPr lang="en-US" sz="1350" dirty="0">
                <a:solidFill>
                  <a:schemeClr val="bg1"/>
                </a:solidFill>
              </a:rPr>
              <a:t>Leave rigid, traditional methods behind. Learn to map, visualize, and mathematically measure the geometric “closeness” of words as dense mathematical vectors using Cosine Similarity and PCA.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Module 2: Preparing Text Data: </a:t>
            </a:r>
          </a:p>
          <a:p>
            <a:r>
              <a:rPr lang="en-US" sz="1350" dirty="0">
                <a:solidFill>
                  <a:schemeClr val="bg1"/>
                </a:solidFill>
              </a:rPr>
              <a:t>Process raw text data, handle variable sentence lengths with zero-padding, and format data into efficient matrices for neural networks.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Module 3: Recurrent Neural Networks (RNNs): </a:t>
            </a:r>
          </a:p>
          <a:p>
            <a:r>
              <a:rPr lang="en-US" sz="1350" dirty="0">
                <a:solidFill>
                  <a:schemeClr val="bg1"/>
                </a:solidFill>
              </a:rPr>
              <a:t>Give neural networks an internal “memory” loop. Using the </a:t>
            </a:r>
            <a:r>
              <a:rPr lang="en-US" sz="1350" dirty="0" err="1">
                <a:solidFill>
                  <a:schemeClr val="bg1"/>
                </a:solidFill>
              </a:rPr>
              <a:t>Keras</a:t>
            </a:r>
            <a:r>
              <a:rPr lang="en-US" sz="1350" dirty="0">
                <a:solidFill>
                  <a:schemeClr val="bg1"/>
                </a:solidFill>
              </a:rPr>
              <a:t> Functional API, we’ll build Simple RNNs that process text sequentially instead of all at once.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Module 4: Long Short-Term Memory (LSTM): </a:t>
            </a:r>
          </a:p>
          <a:p>
            <a:r>
              <a:rPr lang="en-US" sz="1350" dirty="0">
                <a:solidFill>
                  <a:schemeClr val="bg1"/>
                </a:solidFill>
              </a:rPr>
              <a:t>Overcome the “Vanishing Gradient Problem” of Simple RNNs. Crack open the complex inner mechanics of LSTMs and learn how to use Forget, Input, and Output gates to maintain a continuous conveyor belt of memory.</a:t>
            </a:r>
          </a:p>
          <a:p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Module 5: Bidirectional Long Short-Term Memory (Bidirectional LSTM): </a:t>
            </a:r>
          </a:p>
          <a:p>
            <a:r>
              <a:rPr lang="en-US" sz="1350" dirty="0">
                <a:solidFill>
                  <a:schemeClr val="bg1"/>
                </a:solidFill>
              </a:rPr>
              <a:t>Synthesize context from both the past and the future simultaneously. Learn how true meaning often depends on words that appear later in a sentence.</a:t>
            </a:r>
            <a:endParaRPr lang="en-IN" sz="135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33CAB-8432-13CB-E5A0-68F51E451341}"/>
              </a:ext>
            </a:extLst>
          </p:cNvPr>
          <p:cNvSpPr txBox="1"/>
          <p:nvPr/>
        </p:nvSpPr>
        <p:spPr>
          <a:xfrm>
            <a:off x="391886" y="234216"/>
            <a:ext cx="4572000" cy="41293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4893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502F9C4-872A-DABD-1E7C-E187C05A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9219B-060F-B707-8685-E9C54D6490EF}"/>
              </a:ext>
            </a:extLst>
          </p:cNvPr>
          <p:cNvSpPr txBox="1"/>
          <p:nvPr/>
        </p:nvSpPr>
        <p:spPr>
          <a:xfrm>
            <a:off x="381000" y="209952"/>
            <a:ext cx="4572000" cy="48083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16" b="1" i="0" u="none" strike="noStrike" cap="none" spc="0" normalizeH="0" baseline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IN" dirty="0"/>
              <a:t>Model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88D70-BFAB-0993-105C-BDF5AF157F99}"/>
              </a:ext>
            </a:extLst>
          </p:cNvPr>
          <p:cNvSpPr txBox="1"/>
          <p:nvPr/>
        </p:nvSpPr>
        <p:spPr>
          <a:xfrm>
            <a:off x="381000" y="718083"/>
            <a:ext cx="84690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Module 1 - Introduction to Model Evaluation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Build a mental framework for what constitutes a reliable model. You will review the machine learning workflow and explore the fundamental tension between learning the data and generalizing to new data.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Module 2 - Understanding Regression Errors</a:t>
            </a:r>
          </a:p>
          <a:p>
            <a:r>
              <a:rPr lang="en-US" sz="1200" dirty="0">
                <a:solidFill>
                  <a:schemeClr val="bg1"/>
                </a:solidFill>
              </a:rPr>
              <a:t>Before aggregating errors into formal metrics, examine the raw mistakes your model makes. You will learn to define and interpret the foundational concepts of regression error.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Module 3 - Regression Performance Metrics</a:t>
            </a:r>
          </a:p>
          <a:p>
            <a:r>
              <a:rPr lang="en-US" sz="1200" dirty="0">
                <a:solidFill>
                  <a:schemeClr val="bg1"/>
                </a:solidFill>
              </a:rPr>
              <a:t>Evaluate your continuous predictions and learn how to penalize models that are overly complex to prevent overfitting.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Module 4 - Understanding Classification Errors</a:t>
            </a:r>
          </a:p>
          <a:p>
            <a:r>
              <a:rPr lang="en-US" sz="1200" dirty="0">
                <a:solidFill>
                  <a:schemeClr val="bg1"/>
                </a:solidFill>
              </a:rPr>
              <a:t>Categorize your model's prediction mistakes to understand their real-world impact. You will learn how to read a confusion matrix and distinguish between different types of failure.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Module 5 - Classification Performance Metrics</a:t>
            </a:r>
          </a:p>
          <a:p>
            <a:r>
              <a:rPr lang="en-US" sz="1200" dirty="0">
                <a:solidFill>
                  <a:schemeClr val="bg1"/>
                </a:solidFill>
              </a:rPr>
              <a:t>Discover why simple accuracy is often misleading and learn the specialized metrics needed for imbalanced datasets and nuanced decision-making.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Module 6 - Cross Validation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Move beyond a single train-test split to ensure your model's evaluation metrics are robust, reliable, and truly representative of its ability to generalize.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74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96262"/>
            <a:ext cx="515813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 err="1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</a:t>
            </a: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 and hands on studio workflow</a:t>
            </a:r>
            <a:endParaRPr lang="en-US" sz="115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0"/>
            <a:ext cx="304495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real time event contracts with AsyncAPI documents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457200" y="1367021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467612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channel patterns for event driven design</a:t>
            </a:r>
            <a:endParaRPr lang="en-US" sz="1152" dirty="0"/>
          </a:p>
        </p:txBody>
      </p:sp>
      <p:sp>
        <p:nvSpPr>
          <p:cNvPr id="5" name="Text 3"/>
          <p:cNvSpPr/>
          <p:nvPr/>
        </p:nvSpPr>
        <p:spPr>
          <a:xfrm>
            <a:off x="502920" y="2071116"/>
            <a:ext cx="24688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channel naming, message payload structure, and operation semantics so producers and consumers remain compatible across environments.</a:t>
            </a:r>
            <a:endParaRPr lang="en-US" sz="1152" dirty="0"/>
          </a:p>
        </p:txBody>
      </p:sp>
      <p:sp>
        <p:nvSpPr>
          <p:cNvPr id="6" name="Shape 4"/>
          <p:cNvSpPr/>
          <p:nvPr/>
        </p:nvSpPr>
        <p:spPr>
          <a:xfrm>
            <a:off x="3291840" y="2160727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37560" y="2261765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theory to a production ready spec</a:t>
            </a: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3337560" y="2865269"/>
            <a:ext cx="24688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tutorial guidance into a clean AsyncAPI document that supports governance, versioning, and safer client integrations.</a:t>
            </a:r>
            <a:endParaRPr lang="en-US" sz="1152" dirty="0"/>
          </a:p>
        </p:txBody>
      </p:sp>
      <p:sp>
        <p:nvSpPr>
          <p:cNvPr id="9" name="Shape 7"/>
          <p:cNvSpPr/>
          <p:nvPr/>
        </p:nvSpPr>
        <p:spPr>
          <a:xfrm>
            <a:off x="3017520" y="1367021"/>
            <a:ext cx="2695573" cy="597236"/>
          </a:xfrm>
          <a:custGeom>
            <a:avLst/>
            <a:gdLst/>
            <a:ahLst/>
            <a:cxnLst/>
            <a:rect l="l" t="t" r="r" b="b"/>
            <a:pathLst>
              <a:path w="2695573" h="597236">
                <a:moveTo>
                  <a:pt x="0" y="0"/>
                </a:moveTo>
                <a:quadBezTo>
                  <a:pt x="1698766" y="-158317"/>
                  <a:pt x="2695573" y="597236"/>
                </a:quadBez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26480" y="2955341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3055925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core concepts and event contracts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6172200" y="3659429"/>
            <a:ext cx="24688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AsyncAPI defines publish/subscribe contracts, transports, and message schemas for real-time systems using the official tutorial example.</a:t>
            </a:r>
            <a:endParaRPr lang="en-US" sz="1152" dirty="0"/>
          </a:p>
        </p:txBody>
      </p:sp>
      <p:sp>
        <p:nvSpPr>
          <p:cNvPr id="13" name="Shape 11"/>
          <p:cNvSpPr/>
          <p:nvPr/>
        </p:nvSpPr>
        <p:spPr>
          <a:xfrm>
            <a:off x="5852160" y="2161181"/>
            <a:ext cx="2695573" cy="597236"/>
          </a:xfrm>
          <a:custGeom>
            <a:avLst/>
            <a:gdLst/>
            <a:ahLst/>
            <a:cxnLst/>
            <a:rect l="l" t="t" r="r" b="b"/>
            <a:pathLst>
              <a:path w="2695573" h="597236">
                <a:moveTo>
                  <a:pt x="0" y="0"/>
                </a:moveTo>
                <a:quadBezTo>
                  <a:pt x="1698766" y="-158317"/>
                  <a:pt x="2695573" y="597236"/>
                </a:quadBez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51211-1CE2-42DF-3964-E13F617B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85417"/>
            <a:ext cx="6858000" cy="177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7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CD5913-14A9-ADD6-E9B6-BF057774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60" y="0"/>
            <a:ext cx="53820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8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426724"/>
            <a:ext cx="5486400" cy="1097280"/>
          </a:xfrm>
          <a:custGeom>
            <a:avLst/>
            <a:gdLst/>
            <a:ahLst/>
            <a:cxnLst/>
            <a:rect l="l" t="t" r="r" b="b"/>
            <a:pathLst>
              <a:path w="5486400" h="1097280">
                <a:moveTo>
                  <a:pt x="0" y="0"/>
                </a:moveTo>
                <a:lnTo>
                  <a:pt x="5486400" y="0"/>
                </a:lnTo>
                <a:lnTo>
                  <a:pt x="548640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43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274320"/>
            <a:ext cx="54864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schemas and channels using AsyncAPI theory and examples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3200400" y="1329538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128514" y="0"/>
                </a:moveTo>
                <a:lnTo>
                  <a:pt x="5357886" y="0"/>
                </a:lnTo>
                <a:quadBezTo>
                  <a:pt x="5486400" y="0"/>
                  <a:pt x="5486400" y="128514"/>
                </a:quadBezTo>
                <a:lnTo>
                  <a:pt x="5486400" y="3163326"/>
                </a:lnTo>
                <a:quadBezTo>
                  <a:pt x="5486400" y="3291840"/>
                  <a:pt x="5357886" y="3291840"/>
                </a:quadBezTo>
                <a:lnTo>
                  <a:pt x="128514" y="3291840"/>
                </a:lnTo>
                <a:quadBezTo>
                  <a:pt x="0" y="3291840"/>
                  <a:pt x="0" y="3163326"/>
                </a:quadBezTo>
                <a:lnTo>
                  <a:pt x="0" y="128514"/>
                </a:lnTo>
                <a:quadBezTo>
                  <a:pt x="0" y="0"/>
                  <a:pt x="12851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FFD9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0" y="2426724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200400" y="3524004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337560" y="1461175"/>
            <a:ext cx="219456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modeling with AsyncAPI components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623560" y="1461175"/>
            <a:ext cx="292608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reusable components for payloads, parameters, and headers, then reference them consistently from operations to reduce drift.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337560" y="2558491"/>
            <a:ext cx="219456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driven development with Pydantic models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623560" y="2558491"/>
            <a:ext cx="292608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Pydantic to enforce types, constraints, and parsing rules that mirror your AsyncAPI message schemas for end to end safety.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337560" y="3655771"/>
            <a:ext cx="219456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organization and operation structure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623560" y="3659429"/>
            <a:ext cx="292608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channels with publish/subscribe roles and document message flow, leveraging the tutorial walkthrough to avoid common pitfalls.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628F7-4CFC-E41C-3575-5170EA38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927" y="354138"/>
            <a:ext cx="6988146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95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0E04B-AEC2-E5A7-5A0D-137A6475C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36" y="738981"/>
            <a:ext cx="4252328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6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8E600-4BCD-AFDD-2DCB-F2121AE15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2" y="959980"/>
            <a:ext cx="8497036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9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6D5AF-F75A-7070-15E7-0705BFB4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2" y="986652"/>
            <a:ext cx="8497036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7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43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57784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and iterating using AsyncAPI Studio lab exercises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457299" y="1306678"/>
            <a:ext cx="493776" cy="475488"/>
          </a:xfrm>
          <a:custGeom>
            <a:avLst/>
            <a:gdLst/>
            <a:ahLst/>
            <a:cxnLst/>
            <a:rect l="l" t="t" r="r" b="b"/>
            <a:pathLst>
              <a:path w="493776" h="475488">
                <a:moveTo>
                  <a:pt x="59436" y="0"/>
                </a:moveTo>
                <a:lnTo>
                  <a:pt x="434340" y="0"/>
                </a:lnTo>
                <a:quadBezTo>
                  <a:pt x="493776" y="0"/>
                  <a:pt x="493776" y="59436"/>
                </a:quadBezTo>
                <a:lnTo>
                  <a:pt x="493776" y="416052"/>
                </a:lnTo>
                <a:quadBezTo>
                  <a:pt x="493776" y="475488"/>
                  <a:pt x="434340" y="475488"/>
                </a:quadBezTo>
                <a:lnTo>
                  <a:pt x="59436" y="475488"/>
                </a:lnTo>
                <a:quadBezTo>
                  <a:pt x="0" y="475488"/>
                  <a:pt x="0" y="416052"/>
                </a:quadBezTo>
                <a:lnTo>
                  <a:pt x="0" y="59436"/>
                </a:lnTo>
                <a:quadBezTo>
                  <a:pt x="0" y="0"/>
                  <a:pt x="59436" y="0"/>
                </a:quadBezTo>
                <a:close/>
              </a:path>
            </a:pathLst>
          </a:custGeom>
          <a:solidFill>
            <a:srgbClr val="4DA59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84731" y="1319291"/>
            <a:ext cx="438912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1005840" y="1253642"/>
            <a:ext cx="5029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schemas from real payload examples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1005840" y="1491386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models using documented techniques from the complete Pydantic guide, improving reliability before integration with services.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57299" y="2532335"/>
            <a:ext cx="493776" cy="475488"/>
          </a:xfrm>
          <a:custGeom>
            <a:avLst/>
            <a:gdLst/>
            <a:ahLst/>
            <a:cxnLst/>
            <a:rect l="l" t="t" r="r" b="b"/>
            <a:pathLst>
              <a:path w="493776" h="475488">
                <a:moveTo>
                  <a:pt x="59436" y="0"/>
                </a:moveTo>
                <a:lnTo>
                  <a:pt x="434340" y="0"/>
                </a:lnTo>
                <a:quadBezTo>
                  <a:pt x="493776" y="0"/>
                  <a:pt x="493776" y="59436"/>
                </a:quadBezTo>
                <a:lnTo>
                  <a:pt x="493776" y="416052"/>
                </a:lnTo>
                <a:quadBezTo>
                  <a:pt x="493776" y="475488"/>
                  <a:pt x="434340" y="475488"/>
                </a:quadBezTo>
                <a:lnTo>
                  <a:pt x="59436" y="475488"/>
                </a:lnTo>
                <a:quadBezTo>
                  <a:pt x="0" y="475488"/>
                  <a:pt x="0" y="416052"/>
                </a:quadBezTo>
                <a:lnTo>
                  <a:pt x="0" y="59436"/>
                </a:lnTo>
                <a:quadBezTo>
                  <a:pt x="0" y="0"/>
                  <a:pt x="59436" y="0"/>
                </a:quadBezTo>
                <a:close/>
              </a:path>
            </a:pathLst>
          </a:custGeom>
          <a:solidFill>
            <a:srgbClr val="4DA59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84731" y="2544222"/>
            <a:ext cx="438912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1005840" y="2478024"/>
            <a:ext cx="5029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endpoints that serve validated event data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1005840" y="2715768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HTTP routes with FastAPI first steps, using path parameters and request bodies that are validated by Pydantic models.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457299" y="3757270"/>
            <a:ext cx="493776" cy="475488"/>
          </a:xfrm>
          <a:custGeom>
            <a:avLst/>
            <a:gdLst/>
            <a:ahLst/>
            <a:cxnLst/>
            <a:rect l="l" t="t" r="r" b="b"/>
            <a:pathLst>
              <a:path w="493776" h="475488">
                <a:moveTo>
                  <a:pt x="59436" y="0"/>
                </a:moveTo>
                <a:lnTo>
                  <a:pt x="434340" y="0"/>
                </a:lnTo>
                <a:quadBezTo>
                  <a:pt x="493776" y="0"/>
                  <a:pt x="493776" y="59436"/>
                </a:quadBezTo>
                <a:lnTo>
                  <a:pt x="493776" y="416052"/>
                </a:lnTo>
                <a:quadBezTo>
                  <a:pt x="493776" y="475488"/>
                  <a:pt x="434340" y="475488"/>
                </a:quadBezTo>
                <a:lnTo>
                  <a:pt x="59436" y="475488"/>
                </a:lnTo>
                <a:quadBezTo>
                  <a:pt x="0" y="475488"/>
                  <a:pt x="0" y="416052"/>
                </a:quadBezTo>
                <a:lnTo>
                  <a:pt x="0" y="59436"/>
                </a:lnTo>
                <a:quadBezTo>
                  <a:pt x="0" y="0"/>
                  <a:pt x="59436" y="0"/>
                </a:quadBezTo>
                <a:close/>
              </a:path>
            </a:pathLst>
          </a:custGeom>
          <a:solidFill>
            <a:srgbClr val="4DA599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4731" y="3769157"/>
            <a:ext cx="438912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1005840" y="3703320"/>
            <a:ext cx="5029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validation with Pydantic get started guides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1005840" y="3941064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Pydantic validation features like field constraints and error reporting to ensure incoming event payloads match expected contracts.</a:t>
            </a:r>
            <a:endParaRPr lang="en-US" sz="115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96262"/>
            <a:ext cx="515813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 err="1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validation for robust Python data models</a:t>
            </a:r>
            <a:endParaRPr lang="en-US" sz="115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0"/>
            <a:ext cx="304495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711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93392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types and validators for clean data integrity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457200" y="2880360"/>
            <a:ext cx="82296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modeling for event payloads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457200" y="3118104"/>
            <a:ext cx="82296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tutorial to define channels, operations, and message schemas for event-driven APIs with clear contracts and examples.</a:t>
            </a:r>
            <a:endParaRPr lang="en-US" sz="115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Pydantic model configuration and field constraints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 rot="5400000">
            <a:off x="457200" y="16177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91440"/>
                </a:lnTo>
                <a:lnTo>
                  <a:pt x="0" y="182880"/>
                </a:lnTo>
                <a:lnTo>
                  <a:pt x="54864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4DA599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5800" y="1496873"/>
            <a:ext cx="8001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constraints for safer schema evolution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685800" y="1734617"/>
            <a:ext cx="80010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DataCamp and guide resources, add constraints like ranges, lengths, and patterns to reduce downstream error handling.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 rot="5400000">
            <a:off x="457200" y="245973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91440"/>
                </a:lnTo>
                <a:lnTo>
                  <a:pt x="0" y="182880"/>
                </a:lnTo>
                <a:lnTo>
                  <a:pt x="54864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4DA59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339416"/>
            <a:ext cx="8001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configuration for robust models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85800" y="2577160"/>
            <a:ext cx="80010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get-started documentation to configure validation behavior, defaults, and strictness for reliable data integrity across services.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 rot="5400000">
            <a:off x="457200" y="33025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91440"/>
                </a:lnTo>
                <a:lnTo>
                  <a:pt x="0" y="182880"/>
                </a:lnTo>
                <a:lnTo>
                  <a:pt x="54864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4DA599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5800" y="3181846"/>
            <a:ext cx="8001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schema generation with constraints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85800" y="3419590"/>
            <a:ext cx="800100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editor-driven FastAPI workflows to ensure OpenAPI reflects Pydantic constraints for accurate client integration and testing.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 rot="5400000">
            <a:off x="457200" y="414493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91440"/>
                </a:lnTo>
                <a:lnTo>
                  <a:pt x="0" y="182880"/>
                </a:lnTo>
                <a:lnTo>
                  <a:pt x="54864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4DA5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85800" y="4024272"/>
            <a:ext cx="8001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schema alignment with validation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685800" y="4262016"/>
            <a:ext cx="80010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AsyncAPI documents whose message schemas mirror Pydantic validation rules to keep contracts consistent across event and HTTP layers.</a:t>
            </a:r>
            <a:endParaRPr lang="en-US" sz="1152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editor workflows to speed up FastAPI compatible schemas</a:t>
            </a:r>
            <a:endParaRPr lang="en-US" sz="115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1641"/>
            <a:ext cx="3840480" cy="118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592324"/>
            <a:ext cx="384048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lab for AsyncAPI document authoring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3012948"/>
            <a:ext cx="384048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in AsyncAPI Studio to generate a working spec quickly, then iteratively refine channels and message definitions.</a:t>
            </a:r>
            <a:endParaRPr lang="en-US" sz="1152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1989"/>
            <a:ext cx="3840480" cy="11814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2592324"/>
            <a:ext cx="384048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guidance for FastAPI development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754880" y="3012948"/>
            <a:ext cx="384048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VS Code FastAPI tutorial to streamline coding, linting, and schema-first development with Pydantic-backed endpoints.</a:t>
            </a:r>
            <a:endParaRPr lang="en-US" sz="1152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96262"/>
            <a:ext cx="515813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FastAPI endpoints and LLM SDK usage for applications</a:t>
            </a:r>
            <a:endParaRPr lang="en-US" sz="115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0"/>
            <a:ext cx="304495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path operations in FastAPI with dependable request handling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457200" y="1137514"/>
            <a:ext cx="7772400" cy="841248"/>
          </a:xfrm>
          <a:custGeom>
            <a:avLst/>
            <a:gdLst/>
            <a:ahLst/>
            <a:cxnLst/>
            <a:rect l="l" t="t" r="r" b="b"/>
            <a:pathLst>
              <a:path w="7772400" h="841248">
                <a:moveTo>
                  <a:pt x="105156" y="0"/>
                </a:moveTo>
                <a:lnTo>
                  <a:pt x="7667244" y="0"/>
                </a:lnTo>
                <a:quadBezTo>
                  <a:pt x="7772400" y="0"/>
                  <a:pt x="7772400" y="105156"/>
                </a:quadBezTo>
                <a:lnTo>
                  <a:pt x="7772400" y="736092"/>
                </a:lnTo>
                <a:quadBezTo>
                  <a:pt x="7772400" y="841248"/>
                  <a:pt x="7667244" y="841248"/>
                </a:quadBezTo>
                <a:lnTo>
                  <a:pt x="105156" y="841248"/>
                </a:lnTo>
                <a:quadBezTo>
                  <a:pt x="0" y="841248"/>
                  <a:pt x="0" y="736092"/>
                </a:quadBezTo>
                <a:lnTo>
                  <a:pt x="0" y="105156"/>
                </a:lnTo>
                <a:quadBezTo>
                  <a:pt x="0" y="0"/>
                  <a:pt x="105156" y="0"/>
                </a:quadBez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137352"/>
            <a:ext cx="7680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parameter validation with typed function signatures</a:t>
            </a:r>
            <a:endParaRPr lang="en-US" sz="1152" dirty="0"/>
          </a:p>
        </p:txBody>
      </p:sp>
      <p:sp>
        <p:nvSpPr>
          <p:cNvPr id="5" name="Text 3"/>
          <p:cNvSpPr/>
          <p:nvPr/>
        </p:nvSpPr>
        <p:spPr>
          <a:xfrm>
            <a:off x="502920" y="1365952"/>
            <a:ext cx="7680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path parameters with Python types so FastAPI performs automatic parsing and validation, reducing manual checks and preventing malformed requests from reaching business logic.</a:t>
            </a:r>
            <a:endParaRPr lang="en-US" sz="1152" dirty="0"/>
          </a:p>
        </p:txBody>
      </p:sp>
      <p:sp>
        <p:nvSpPr>
          <p:cNvPr id="6" name="Shape 4"/>
          <p:cNvSpPr/>
          <p:nvPr/>
        </p:nvSpPr>
        <p:spPr>
          <a:xfrm rot="5400000">
            <a:off x="8321040" y="137525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36576"/>
                </a:lnTo>
                <a:lnTo>
                  <a:pt x="292608" y="36576"/>
                </a:lnTo>
                <a:lnTo>
                  <a:pt x="292608" y="0"/>
                </a:lnTo>
                <a:lnTo>
                  <a:pt x="365760" y="73152"/>
                </a:lnTo>
                <a:lnTo>
                  <a:pt x="292608" y="146304"/>
                </a:lnTo>
                <a:lnTo>
                  <a:pt x="292608" y="109728"/>
                </a:lnTo>
                <a:lnTo>
                  <a:pt x="73152" y="109728"/>
                </a:lnTo>
                <a:lnTo>
                  <a:pt x="73152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FFD9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089404"/>
            <a:ext cx="7772400" cy="841248"/>
          </a:xfrm>
          <a:custGeom>
            <a:avLst/>
            <a:gdLst/>
            <a:ahLst/>
            <a:cxnLst/>
            <a:rect l="l" t="t" r="r" b="b"/>
            <a:pathLst>
              <a:path w="7772400" h="841248">
                <a:moveTo>
                  <a:pt x="105156" y="0"/>
                </a:moveTo>
                <a:lnTo>
                  <a:pt x="7667244" y="0"/>
                </a:lnTo>
                <a:quadBezTo>
                  <a:pt x="7772400" y="0"/>
                  <a:pt x="7772400" y="105156"/>
                </a:quadBezTo>
                <a:lnTo>
                  <a:pt x="7772400" y="736092"/>
                </a:lnTo>
                <a:quadBezTo>
                  <a:pt x="7772400" y="841248"/>
                  <a:pt x="7667244" y="841248"/>
                </a:quadBezTo>
                <a:lnTo>
                  <a:pt x="105156" y="841248"/>
                </a:lnTo>
                <a:quadBezTo>
                  <a:pt x="0" y="841248"/>
                  <a:pt x="0" y="736092"/>
                </a:quadBezTo>
                <a:lnTo>
                  <a:pt x="0" y="105156"/>
                </a:lnTo>
                <a:quadBezTo>
                  <a:pt x="0" y="0"/>
                  <a:pt x="105156" y="0"/>
                </a:quadBez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089207"/>
            <a:ext cx="7680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routing patterns for robust endpoints</a:t>
            </a:r>
            <a:endParaRPr lang="en-US" sz="1152" dirty="0"/>
          </a:p>
        </p:txBody>
      </p:sp>
      <p:sp>
        <p:nvSpPr>
          <p:cNvPr id="9" name="Text 7"/>
          <p:cNvSpPr/>
          <p:nvPr/>
        </p:nvSpPr>
        <p:spPr>
          <a:xfrm>
            <a:off x="960120" y="2317807"/>
            <a:ext cx="7680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FastAPI path syntax to design clear, versionable routes, validate parameters early, and keep handler logic deterministic for consistent behavior across async workloads.</a:t>
            </a:r>
            <a:endParaRPr lang="en-US" sz="1152" dirty="0"/>
          </a:p>
        </p:txBody>
      </p:sp>
      <p:sp>
        <p:nvSpPr>
          <p:cNvPr id="10" name="Shape 8"/>
          <p:cNvSpPr/>
          <p:nvPr/>
        </p:nvSpPr>
        <p:spPr>
          <a:xfrm rot="-10800000">
            <a:off x="457200" y="238887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329184" y="365760"/>
                </a:lnTo>
                <a:lnTo>
                  <a:pt x="329184" y="73152"/>
                </a:lnTo>
                <a:lnTo>
                  <a:pt x="365760" y="73152"/>
                </a:lnTo>
                <a:lnTo>
                  <a:pt x="292608" y="0"/>
                </a:lnTo>
                <a:lnTo>
                  <a:pt x="219456" y="73152"/>
                </a:lnTo>
                <a:lnTo>
                  <a:pt x="256032" y="73152"/>
                </a:lnTo>
                <a:lnTo>
                  <a:pt x="256032" y="292608"/>
                </a:lnTo>
                <a:lnTo>
                  <a:pt x="0" y="292608"/>
                </a:lnTo>
                <a:lnTo>
                  <a:pt x="0" y="365760"/>
                </a:lnTo>
                <a:close/>
              </a:path>
            </a:pathLst>
          </a:custGeom>
          <a:solidFill>
            <a:srgbClr val="FFD9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040380"/>
            <a:ext cx="7772400" cy="841248"/>
          </a:xfrm>
          <a:custGeom>
            <a:avLst/>
            <a:gdLst/>
            <a:ahLst/>
            <a:cxnLst/>
            <a:rect l="l" t="t" r="r" b="b"/>
            <a:pathLst>
              <a:path w="7772400" h="841248">
                <a:moveTo>
                  <a:pt x="105156" y="0"/>
                </a:moveTo>
                <a:lnTo>
                  <a:pt x="7667244" y="0"/>
                </a:lnTo>
                <a:quadBezTo>
                  <a:pt x="7772400" y="0"/>
                  <a:pt x="7772400" y="105156"/>
                </a:quadBezTo>
                <a:lnTo>
                  <a:pt x="7772400" y="736092"/>
                </a:lnTo>
                <a:quadBezTo>
                  <a:pt x="7772400" y="841248"/>
                  <a:pt x="7667244" y="841248"/>
                </a:quadBezTo>
                <a:lnTo>
                  <a:pt x="105156" y="841248"/>
                </a:lnTo>
                <a:quadBezTo>
                  <a:pt x="0" y="841248"/>
                  <a:pt x="0" y="736092"/>
                </a:quadBezTo>
                <a:lnTo>
                  <a:pt x="0" y="105156"/>
                </a:lnTo>
                <a:quadBezTo>
                  <a:pt x="0" y="0"/>
                  <a:pt x="105156" y="0"/>
                </a:quadBez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040739"/>
            <a:ext cx="7680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guided setup for FastAPI development</a:t>
            </a:r>
            <a:endParaRPr lang="en-US" sz="1152" dirty="0"/>
          </a:p>
        </p:txBody>
      </p:sp>
      <p:sp>
        <p:nvSpPr>
          <p:cNvPr id="13" name="Text 11"/>
          <p:cNvSpPr/>
          <p:nvPr/>
        </p:nvSpPr>
        <p:spPr>
          <a:xfrm>
            <a:off x="502920" y="3269339"/>
            <a:ext cx="7680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editor-based tutorial to structure a minimal FastAPI project, configure run/debug workflows, and verify responses end to end while iterating quickly.</a:t>
            </a:r>
            <a:endParaRPr lang="en-US" sz="1152" dirty="0"/>
          </a:p>
        </p:txBody>
      </p:sp>
      <p:sp>
        <p:nvSpPr>
          <p:cNvPr id="14" name="Shape 12"/>
          <p:cNvSpPr/>
          <p:nvPr/>
        </p:nvSpPr>
        <p:spPr>
          <a:xfrm rot="5400000">
            <a:off x="8321040" y="32781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36576"/>
                </a:lnTo>
                <a:lnTo>
                  <a:pt x="292608" y="36576"/>
                </a:lnTo>
                <a:lnTo>
                  <a:pt x="292608" y="0"/>
                </a:lnTo>
                <a:lnTo>
                  <a:pt x="365760" y="73152"/>
                </a:lnTo>
                <a:lnTo>
                  <a:pt x="292608" y="146304"/>
                </a:lnTo>
                <a:lnTo>
                  <a:pt x="292608" y="109728"/>
                </a:lnTo>
                <a:lnTo>
                  <a:pt x="73152" y="109728"/>
                </a:lnTo>
                <a:lnTo>
                  <a:pt x="73152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FFD9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992270"/>
            <a:ext cx="7772400" cy="841248"/>
          </a:xfrm>
          <a:custGeom>
            <a:avLst/>
            <a:gdLst/>
            <a:ahLst/>
            <a:cxnLst/>
            <a:rect l="l" t="t" r="r" b="b"/>
            <a:pathLst>
              <a:path w="7772400" h="841248">
                <a:moveTo>
                  <a:pt x="105156" y="0"/>
                </a:moveTo>
                <a:lnTo>
                  <a:pt x="7667244" y="0"/>
                </a:lnTo>
                <a:quadBezTo>
                  <a:pt x="7772400" y="0"/>
                  <a:pt x="7772400" y="105156"/>
                </a:quadBezTo>
                <a:lnTo>
                  <a:pt x="7772400" y="736092"/>
                </a:lnTo>
                <a:quadBezTo>
                  <a:pt x="7772400" y="841248"/>
                  <a:pt x="7667244" y="841248"/>
                </a:quadBezTo>
                <a:lnTo>
                  <a:pt x="105156" y="841248"/>
                </a:lnTo>
                <a:quadBezTo>
                  <a:pt x="0" y="841248"/>
                  <a:pt x="0" y="736092"/>
                </a:quadBezTo>
                <a:lnTo>
                  <a:pt x="0" y="105156"/>
                </a:lnTo>
                <a:quadBezTo>
                  <a:pt x="0" y="0"/>
                  <a:pt x="105156" y="0"/>
                </a:quadBez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3992270"/>
            <a:ext cx="7680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 FastAPI implementation roadmap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960120" y="4220870"/>
            <a:ext cx="7680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the beginner tutorial to connect routing, request handling, and response generation, then extend the same patterns for production-grade async services.</a:t>
            </a:r>
            <a:endParaRPr lang="en-US" sz="1152" dirty="0"/>
          </a:p>
        </p:txBody>
      </p:sp>
      <p:sp>
        <p:nvSpPr>
          <p:cNvPr id="18" name="Shape 16"/>
          <p:cNvSpPr/>
          <p:nvPr/>
        </p:nvSpPr>
        <p:spPr>
          <a:xfrm rot="-10800000">
            <a:off x="457200" y="423001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329184" y="365760"/>
                </a:lnTo>
                <a:lnTo>
                  <a:pt x="329184" y="73152"/>
                </a:lnTo>
                <a:lnTo>
                  <a:pt x="365760" y="73152"/>
                </a:lnTo>
                <a:lnTo>
                  <a:pt x="292608" y="0"/>
                </a:lnTo>
                <a:lnTo>
                  <a:pt x="219456" y="73152"/>
                </a:lnTo>
                <a:lnTo>
                  <a:pt x="256032" y="73152"/>
                </a:lnTo>
                <a:lnTo>
                  <a:pt x="256032" y="292608"/>
                </a:lnTo>
                <a:lnTo>
                  <a:pt x="0" y="292608"/>
                </a:lnTo>
                <a:lnTo>
                  <a:pt x="0" y="365760"/>
                </a:lnTo>
                <a:close/>
              </a:path>
            </a:pathLst>
          </a:custGeom>
          <a:solidFill>
            <a:srgbClr val="FFD9B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validated Pydantic models to FastAPI request and response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457200" y="1367021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467612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example workflows for Pydantic integration</a:t>
            </a:r>
            <a:endParaRPr lang="en-US" sz="1152" dirty="0"/>
          </a:p>
        </p:txBody>
      </p:sp>
      <p:sp>
        <p:nvSpPr>
          <p:cNvPr id="5" name="Text 3"/>
          <p:cNvSpPr/>
          <p:nvPr/>
        </p:nvSpPr>
        <p:spPr>
          <a:xfrm>
            <a:off x="502920" y="2071116"/>
            <a:ext cx="24688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complete Pydantic guide’s patterns in a local environment, using saved examples to wire models into FastAPI handlers efficiently.</a:t>
            </a:r>
            <a:endParaRPr lang="en-US" sz="1152" dirty="0"/>
          </a:p>
        </p:txBody>
      </p:sp>
      <p:sp>
        <p:nvSpPr>
          <p:cNvPr id="6" name="Shape 4"/>
          <p:cNvSpPr/>
          <p:nvPr/>
        </p:nvSpPr>
        <p:spPr>
          <a:xfrm>
            <a:off x="3291840" y="2160727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37560" y="2261765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DataCamp learning path for practical Pydantic skills</a:t>
            </a: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3337560" y="2865269"/>
            <a:ext cx="24688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tutorial to learn core concepts with guided exercises, then translate those lessons into reusable model patterns for API inputs and outputs.</a:t>
            </a:r>
            <a:endParaRPr lang="en-US" sz="1152" dirty="0"/>
          </a:p>
        </p:txBody>
      </p:sp>
      <p:sp>
        <p:nvSpPr>
          <p:cNvPr id="9" name="Shape 7"/>
          <p:cNvSpPr/>
          <p:nvPr/>
        </p:nvSpPr>
        <p:spPr>
          <a:xfrm>
            <a:off x="3017520" y="1367021"/>
            <a:ext cx="2695573" cy="597236"/>
          </a:xfrm>
          <a:custGeom>
            <a:avLst/>
            <a:gdLst/>
            <a:ahLst/>
            <a:cxnLst/>
            <a:rect l="l" t="t" r="r" b="b"/>
            <a:pathLst>
              <a:path w="2695573" h="597236">
                <a:moveTo>
                  <a:pt x="0" y="0"/>
                </a:moveTo>
                <a:quadBezTo>
                  <a:pt x="1698766" y="-158317"/>
                  <a:pt x="2695573" y="597236"/>
                </a:quadBez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26480" y="2955341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118127" y="0"/>
                </a:moveTo>
                <a:lnTo>
                  <a:pt x="2442193" y="0"/>
                </a:lnTo>
                <a:quadBezTo>
                  <a:pt x="2560320" y="0"/>
                  <a:pt x="2560320" y="118127"/>
                </a:quadBezTo>
                <a:lnTo>
                  <a:pt x="2560320" y="1710673"/>
                </a:lnTo>
                <a:quadBezTo>
                  <a:pt x="2560320" y="1828800"/>
                  <a:pt x="2442193" y="1828800"/>
                </a:quadBezTo>
                <a:lnTo>
                  <a:pt x="118127" y="1828800"/>
                </a:lnTo>
                <a:quadBezTo>
                  <a:pt x="0" y="1828800"/>
                  <a:pt x="0" y="1710673"/>
                </a:quadBezTo>
                <a:lnTo>
                  <a:pt x="0" y="118127"/>
                </a:lnTo>
                <a:quadBezTo>
                  <a:pt x="0" y="0"/>
                  <a:pt x="118127" y="0"/>
                </a:quadBezTo>
                <a:close/>
              </a:path>
            </a:pathLst>
          </a:custGeom>
          <a:solidFill>
            <a:srgbClr val="2F696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3055925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 design for reliable data contracts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6172200" y="3659429"/>
            <a:ext cx="24688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request and response payloads with Pydantic types, ensuring strict schemas, predictable field behavior, and clear error reporting for clients consuming the API.</a:t>
            </a:r>
            <a:endParaRPr lang="en-US" sz="1152" dirty="0"/>
          </a:p>
        </p:txBody>
      </p:sp>
      <p:sp>
        <p:nvSpPr>
          <p:cNvPr id="13" name="Shape 11"/>
          <p:cNvSpPr/>
          <p:nvPr/>
        </p:nvSpPr>
        <p:spPr>
          <a:xfrm>
            <a:off x="5852160" y="2161181"/>
            <a:ext cx="2695573" cy="597236"/>
          </a:xfrm>
          <a:custGeom>
            <a:avLst/>
            <a:gdLst/>
            <a:ahLst/>
            <a:cxnLst/>
            <a:rect l="l" t="t" r="r" b="b"/>
            <a:pathLst>
              <a:path w="2695573" h="597236">
                <a:moveTo>
                  <a:pt x="0" y="0"/>
                </a:moveTo>
                <a:quadBezTo>
                  <a:pt x="1698766" y="-158317"/>
                  <a:pt x="2695573" y="597236"/>
                </a:quadBez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426724"/>
            <a:ext cx="5486400" cy="1097280"/>
          </a:xfrm>
          <a:custGeom>
            <a:avLst/>
            <a:gdLst/>
            <a:ahLst/>
            <a:cxnLst/>
            <a:rect l="l" t="t" r="r" b="b"/>
            <a:pathLst>
              <a:path w="5486400" h="1097280">
                <a:moveTo>
                  <a:pt x="0" y="0"/>
                </a:moveTo>
                <a:lnTo>
                  <a:pt x="5486400" y="0"/>
                </a:lnTo>
                <a:lnTo>
                  <a:pt x="548640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3350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43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274320"/>
            <a:ext cx="54864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OpenRouter client SDKs for LLM powered features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3200400" y="1329538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128514" y="0"/>
                </a:moveTo>
                <a:lnTo>
                  <a:pt x="5357886" y="0"/>
                </a:lnTo>
                <a:quadBezTo>
                  <a:pt x="5486400" y="0"/>
                  <a:pt x="5486400" y="128514"/>
                </a:quadBezTo>
                <a:lnTo>
                  <a:pt x="5486400" y="3163326"/>
                </a:lnTo>
                <a:quadBezTo>
                  <a:pt x="5486400" y="3291840"/>
                  <a:pt x="5357886" y="3291840"/>
                </a:quadBezTo>
                <a:lnTo>
                  <a:pt x="128514" y="3291840"/>
                </a:lnTo>
                <a:quadBezTo>
                  <a:pt x="0" y="3291840"/>
                  <a:pt x="0" y="3163326"/>
                </a:quadBezTo>
                <a:lnTo>
                  <a:pt x="0" y="128514"/>
                </a:lnTo>
                <a:quadBezTo>
                  <a:pt x="0" y="0"/>
                  <a:pt x="128514" y="0"/>
                </a:quad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FFD9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0" y="2426724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200400" y="3524004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18288">
            <a:solidFill>
              <a:srgbClr val="FFD9B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337560" y="1461175"/>
            <a:ext cx="219456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async LLM features with event-driven APIs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623560" y="1461175"/>
            <a:ext cx="29260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event-driven design with LLM calls by triggering workflows via messages, allowing scalable processing without blocking HTTP request threads.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337560" y="2558491"/>
            <a:ext cx="219456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document creation for system interoperability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623560" y="2558491"/>
            <a:ext cx="29260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AsyncAPI tutorial to draft a complete event specification, including channels, payload schemas, and example messages for LLM-related events.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337560" y="3655771"/>
            <a:ext cx="219456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AsyncAPI Studio lab for validating message contracts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623560" y="3659429"/>
            <a:ext cx="29260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AsyncAPI Studio to simulate and review your specification, ensuring producers and consumers agree on payload shapes and operation semantics.</a:t>
            </a:r>
            <a:endParaRPr lang="en-US" sz="115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2478024"/>
            <a:ext cx="5486400" cy="6655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F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1906</Words>
  <Application>Microsoft Office PowerPoint</Application>
  <PresentationFormat>On-screen Show (16:9)</PresentationFormat>
  <Paragraphs>267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SAURABH PRAMANICK</cp:lastModifiedBy>
  <cp:revision>5</cp:revision>
  <dcterms:created xsi:type="dcterms:W3CDTF">2026-07-06T03:45:58Z</dcterms:created>
  <dcterms:modified xsi:type="dcterms:W3CDTF">2026-07-06T16:35:22Z</dcterms:modified>
</cp:coreProperties>
</file>