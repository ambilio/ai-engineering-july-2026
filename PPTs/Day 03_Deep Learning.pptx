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1.8</c:v>
                </c:pt>
                <c:pt idx="1">
                  <c:v>1.2</c:v>
                </c:pt>
                <c:pt idx="2">
                  <c:v>0.85</c:v>
                </c:pt>
                <c:pt idx="3">
                  <c:v>0.62</c:v>
                </c:pt>
                <c:pt idx="4">
                  <c:v>0.45</c:v>
                </c:pt>
                <c:pt idx="5">
                  <c:v>0.33</c:v>
                </c:pt>
                <c:pt idx="6">
                  <c:v>0.24</c:v>
                </c:pt>
                <c:pt idx="7">
                  <c:v>0.18</c:v>
                </c:pt>
                <c:pt idx="8">
                  <c:v>0.13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F472B6"/>
            </a:solidFill>
            <a:ln w="38100" cap="flat">
              <a:solidFill>
                <a:srgbClr val="F472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72B6"/>
              </a:solidFill>
              <a:ln w="9525" cap="flat">
                <a:solidFill>
                  <a:srgbClr val="F472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1.75</c:v>
                </c:pt>
                <c:pt idx="1">
                  <c:v>1.16</c:v>
                </c:pt>
                <c:pt idx="2">
                  <c:v>0.83</c:v>
                </c:pt>
                <c:pt idx="3">
                  <c:v>0.67</c:v>
                </c:pt>
                <c:pt idx="4">
                  <c:v>0.61</c:v>
                </c:pt>
                <c:pt idx="5">
                  <c:v>0.63</c:v>
                </c:pt>
                <c:pt idx="6">
                  <c:v>0.71</c:v>
                </c:pt>
                <c:pt idx="7">
                  <c:v>0.83</c:v>
                </c:pt>
                <c:pt idx="8">
                  <c:v>0.98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42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EB7D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E14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9-image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WORKSHOP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77800" dist="50800" dir="16200000">
              <a:srgbClr val="8B5CF6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84832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10-DAY INTENSIVE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</a:t>
            </a:r>
            <a:endParaRPr lang="en-US" sz="4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Engineering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548640" y="38770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to transformers — how modern networks are built, trained, tuned, and shipped in PyTorch.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90288"/>
            <a:ext cx="925373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90288"/>
            <a:ext cx="925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83741" y="4590288"/>
            <a:ext cx="1013155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3741" y="4590288"/>
            <a:ext cx="10131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autograd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06624" y="4590288"/>
            <a:ext cx="1364285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4590288"/>
            <a:ext cx="1364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80637" y="4590288"/>
            <a:ext cx="662026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0637" y="4590288"/>
            <a:ext cx="662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52390" y="459028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2390" y="459028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Precision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89750" y="4590288"/>
            <a:ext cx="662026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9750" y="4590288"/>
            <a:ext cx="662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ONNX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TODAY'S BLUEPRINT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pillars we'll build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737360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40" y="1912376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24328" y="1664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44168" y="17282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Core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44168" y="20208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Tensors, autograd, forward &amp; backward pass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1572768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737360"/>
            <a:ext cx="603504" cy="603504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48" y="1912376"/>
            <a:ext cx="253472" cy="253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1536" y="1664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72B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51376" y="17282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151376" y="20208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tokenization, positional encoding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17336" y="1572768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737360"/>
            <a:ext cx="603504" cy="60350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656" y="1912376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1664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BF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958584" y="17282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from Scratch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958584" y="20208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 &amp; the universal training loop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2633472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" y="2798064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40" y="2973080"/>
            <a:ext cx="253472" cy="253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24328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344168" y="27889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&amp; Sequences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344168" y="30815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CNNs · LSTMs vs Transformers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10128" y="2633472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56432" y="2798064"/>
            <a:ext cx="603504" cy="60350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448" y="2973080"/>
            <a:ext cx="253472" cy="253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31536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151376" y="27889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&amp; Precision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151376" y="30815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&amp; FP16 / BF16 training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17336" y="2633472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63640" y="2798064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656" y="2973080"/>
            <a:ext cx="253472" cy="253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38744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958584" y="27889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6958584" y="30815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weight decay, early stopping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02920" y="3694176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9224" y="3858768"/>
            <a:ext cx="603504" cy="60350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240" y="4033784"/>
            <a:ext cx="253472" cy="25347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624328" y="37856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E635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1344168" y="3849624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Model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1344168" y="41422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Checkpointing, loading &amp; ONNX export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3310128" y="3694176"/>
            <a:ext cx="2688336" cy="932688"/>
          </a:xfrm>
          <a:prstGeom prst="roundRect">
            <a:avLst>
              <a:gd name="adj" fmla="val 8824"/>
            </a:avLst>
          </a:prstGeom>
          <a:solidFill>
            <a:srgbClr val="1B23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3456432" y="3858768"/>
            <a:ext cx="603504" cy="60350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1448" y="4033784"/>
            <a:ext cx="253472" cy="25347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151376" y="3849624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450" dirty="0"/>
          </a:p>
        </p:txBody>
      </p:sp>
      <p:sp>
        <p:nvSpPr>
          <p:cNvPr id="50" name="Text 40"/>
          <p:cNvSpPr/>
          <p:nvPr/>
        </p:nvSpPr>
        <p:spPr>
          <a:xfrm>
            <a:off x="4151376" y="41422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network end-to-end, then export it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52" name="Text 42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CORE LOOP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neural network learns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2-layer MLP to a 70-billion-parameter transformer, training is the same four-step loop. Learn it once — everything else is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828800" cy="1572768"/>
          </a:xfrm>
          <a:prstGeom prst="roundRect">
            <a:avLst>
              <a:gd name="adj" fmla="val 523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3856" y="2212848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65" y="2377257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the layers to produce a prediction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615184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87752" y="2011680"/>
            <a:ext cx="1828800" cy="1572768"/>
          </a:xfrm>
          <a:prstGeom prst="roundRect">
            <a:avLst>
              <a:gd name="adj" fmla="val 523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18688" y="2212848"/>
            <a:ext cx="566928" cy="566928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097" y="2377257"/>
            <a:ext cx="238110" cy="238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33472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715768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wrong the prediction is vs. the target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615184"/>
            <a:ext cx="146304" cy="1463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72584" y="2011680"/>
            <a:ext cx="1828800" cy="1572768"/>
          </a:xfrm>
          <a:prstGeom prst="roundRect">
            <a:avLst>
              <a:gd name="adj" fmla="val 523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303520" y="2212848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929" y="2377257"/>
            <a:ext cx="238110" cy="23811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18304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800600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computes ∂loss/∂w for every weight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2615184"/>
            <a:ext cx="146304" cy="14630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57416" y="2011680"/>
            <a:ext cx="1828800" cy="1572768"/>
          </a:xfrm>
          <a:prstGeom prst="roundRect">
            <a:avLst>
              <a:gd name="adj" fmla="val 523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388352" y="2212848"/>
            <a:ext cx="566928" cy="566928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761" y="2377257"/>
            <a:ext cx="238110" cy="23811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03136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6885432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nudges weights down the gradient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502920" y="3913632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1B2340"/>
          </a:solidFill>
          <a:ln w="15240">
            <a:solidFill>
              <a:srgbClr val="A3E6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4069080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42416" y="39136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every batch and epoch until the loss converges. </a:t>
            </a:r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only the forward pass — PyTorch's autograd derives the backward pass for you.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32" name="Text 22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01 · FOUNDATIONS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— tensors, autograd, backprop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" y="1737177"/>
            <a:ext cx="238110" cy="238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5544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are the unit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52728" y="18470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arrays that carry a shape, dtype and device. Move them to the GPU with .to("cuda"); broadcasting and views keep ops cheap.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566928" cy="56692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" y="2706441"/>
            <a:ext cx="238110" cy="238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523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records a graph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52728" y="28163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requires_grad=True and PyTorch builds a dynamic computational graph of every operation as your code runs — define-by-run.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511296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" y="3675705"/>
            <a:ext cx="238110" cy="238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4930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derives gradients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52728" y="37856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.backward() on a scalar loss; gradients populate every leaf tensor's .grad, ready for the optimizer to consume.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74920" y="1572768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21224" y="17007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5376672" y="17007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5532120" y="17007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5276088" y="1883664"/>
            <a:ext cx="32004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torch.randn(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requires_grad=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torch.randn(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requires_grad=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 * w).sum()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y.backward()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autograd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print(w.grad)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 x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74920" y="402336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1B2340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30368" y="4023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Define-by-run: </a:t>
            </a:r>
            <a:pPr algn="l" indent="0" marL="0">
              <a:buNone/>
            </a:pPr>
            <a:r>
              <a:rPr lang="en-US" sz="96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is built as Python executes, so loops, branches &amp; debuggers just work.</a:t>
            </a:r>
            <a:endParaRPr lang="en-US" sz="960" dirty="0"/>
          </a:p>
        </p:txBody>
      </p:sp>
      <p:sp>
        <p:nvSpPr>
          <p:cNvPr id="23" name="Text 18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02 · BUILD &amp; TRAIN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training a net from scratch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" y="1737177"/>
            <a:ext cx="238110" cy="238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5544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52728" y="18470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it, declare layers in __init__, wire them in forward(). Parameters register themselves automatically.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566928" cy="566928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" y="2706441"/>
            <a:ext cx="238110" cy="238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523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loop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52728" y="28163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 you'll write a thousand times: zero_grad → forward → loss → backward → step.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511296"/>
            <a:ext cx="566928" cy="56692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" y="3675705"/>
            <a:ext cx="238110" cy="238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4930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with DataLoader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52728" y="37856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Batches, shuffles and parallel workers. Always move the batch and the model to the same device.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74920" y="1572768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21224" y="17007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5376672" y="17007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5532120" y="17007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5276088" y="1883664"/>
            <a:ext cx="32004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Net().to(device)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torch.optim.AdamW(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model.parameters(), lr=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3e-4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loss_fn = nn.CrossEntropyLoss()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xb, yb 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loader: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opt.zero_grad()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model(xb)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fwd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loss_fn(pred, yb)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opt.step()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</a:t>
            </a:r>
            <a:pPr algn="l" indent="0" marL="0">
              <a:lnSpc>
                <a:spcPct val="110000"/>
              </a:lnSpc>
              <a:buNone/>
            </a:pP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5074920" y="3968496"/>
            <a:ext cx="3566160" cy="530352"/>
          </a:xfrm>
          <a:prstGeom prst="roundRect">
            <a:avLst>
              <a:gd name="adj" fmla="val 15517"/>
            </a:avLst>
          </a:prstGeom>
          <a:solidFill>
            <a:srgbClr val="1B2340"/>
          </a:solidFill>
          <a:ln w="1524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30368" y="39684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zero_grad() matters: </a:t>
            </a:r>
            <a:pPr algn="l" indent="0" marL="0">
              <a:buNone/>
            </a:pPr>
            <a:r>
              <a:rPr lang="en-US" sz="93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accumulate by default — skip it and every step is corrupted.</a:t>
            </a:r>
            <a:endParaRPr lang="en-US" sz="930" dirty="0"/>
          </a:p>
        </p:txBody>
      </p:sp>
      <p:sp>
        <p:nvSpPr>
          <p:cNvPr id="23" name="Text 18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03 · ATTENTION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— attention is all you need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0E1428"/>
          </a:solidFill>
          <a:ln w="1524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813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</a:t>
            </a:r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17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softmax( </a:t>
            </a:r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ctr" indent="0" marL="0">
              <a:buNone/>
            </a:pPr>
            <a:r>
              <a:rPr lang="en-US" sz="1700" b="1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ctr"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Kᵀ</a:t>
            </a:r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√dₖ ) · </a:t>
            </a:r>
            <a:pPr algn="ctr" indent="0" marL="0">
              <a:buNone/>
            </a:pPr>
            <a:r>
              <a:rPr lang="en-US" sz="17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231136"/>
            <a:ext cx="3977640" cy="2286000"/>
          </a:xfrm>
          <a:prstGeom prst="roundRect">
            <a:avLst>
              <a:gd name="adj" fmla="val 3600"/>
            </a:avLst>
          </a:prstGeom>
          <a:solidFill>
            <a:srgbClr val="1B2340"/>
          </a:solidFill>
          <a:ln w="1651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SELF-ATTENTION, STEP BY STEP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724912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each token into a Query, Key and Value vector</a:t>
            </a:r>
            <a:endParaRPr lang="en-US" sz="1150" dirty="0"/>
          </a:p>
          <a:p>
            <a:pPr algn="l"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token pair with Q·Kᵀ — who attends to whom</a:t>
            </a:r>
            <a:endParaRPr lang="en-US" sz="1150" dirty="0"/>
          </a:p>
          <a:p>
            <a:pPr algn="l"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√dₖ, then softmax into attention weights</a:t>
            </a:r>
            <a:endParaRPr lang="en-US" sz="1150" dirty="0"/>
          </a:p>
          <a:p>
            <a:pPr algn="l" marL="203200" indent="-2032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weights · V — a context-mixed vector per token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231136"/>
            <a:ext cx="3977640" cy="2286000"/>
          </a:xfrm>
          <a:prstGeom prst="roundRect">
            <a:avLst>
              <a:gd name="adj" fmla="val 3600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TRANSFORMER BLOCK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73752" y="2724912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→ subword IDs from raw text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positional signal (sinusoidal / RoPE)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— h subspaces in parallel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applied per token</a:t>
            </a:r>
            <a:endParaRPr lang="en-US" sz="1150" dirty="0"/>
          </a:p>
          <a:p>
            <a:pPr algn="l" marL="177800" indent="-177800"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+ LayerNorm wrap each sub-layer; stack ×N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04 · ARCHITECTURES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vision, and the sequence choice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91056"/>
            <a:ext cx="3246120" cy="2871216"/>
          </a:xfrm>
          <a:prstGeom prst="roundRect">
            <a:avLst>
              <a:gd name="adj" fmla="val 286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773936"/>
            <a:ext cx="512064" cy="51206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11" y="1922435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105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· VISION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filters slide over the image, learning local patterns</a:t>
            </a:r>
            <a:endParaRPr lang="en-US" sz="108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layers build a hierarchy: edges → textures → objects</a:t>
            </a:r>
            <a:endParaRPr lang="en-US" sz="108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downsamples; weight-sharing keeps params small</a:t>
            </a:r>
            <a:endParaRPr lang="en-US" sz="108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Translation-invariant by design</a:t>
            </a:r>
            <a:endParaRPr lang="en-US" sz="108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Backbones: ResNet, EfficientNet, and Vision Transformers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977640" y="1591056"/>
            <a:ext cx="4663440" cy="2871216"/>
          </a:xfrm>
          <a:prstGeom prst="roundRect">
            <a:avLst>
              <a:gd name="adj" fmla="val 286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6052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SEQUENCES · LSTM  vs  TRANSFORMER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77640" y="2048256"/>
            <a:ext cx="466344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178808" y="2066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50408" y="2066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04888" y="2066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05656" y="2395728"/>
            <a:ext cx="4407408" cy="438912"/>
          </a:xfrm>
          <a:prstGeom prst="roundRect">
            <a:avLst>
              <a:gd name="adj" fmla="val 8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50408" y="2395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step by step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04888" y="23957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all at once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78808" y="28895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50408" y="28895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Fades over distance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04888" y="28895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token-to-token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05656" y="3383280"/>
            <a:ext cx="4407408" cy="438912"/>
          </a:xfrm>
          <a:prstGeom prst="roundRect">
            <a:avLst>
              <a:gd name="adj" fmla="val 8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78808" y="3383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50408" y="33832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time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04888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attention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178808" y="38770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50408" y="38770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streaming niche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04888" y="38770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everywhere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05 · SCALE &amp; SPEED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&amp; mixed-precision training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91056"/>
            <a:ext cx="3657600" cy="2286000"/>
          </a:xfrm>
          <a:prstGeom prst="roundRect">
            <a:avLst>
              <a:gd name="adj" fmla="val 3600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GPU MEMORY GOES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215798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themselves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13232" y="2578608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parameter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13232" y="299923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states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keeps ~2× params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13232" y="341985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3346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batch × sequence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343400" y="1591056"/>
            <a:ext cx="4297680" cy="2286000"/>
          </a:xfrm>
          <a:prstGeom prst="roundRect">
            <a:avLst>
              <a:gd name="adj" fmla="val 2800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9704" y="171907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4645152" y="171907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71907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1901952"/>
            <a:ext cx="39319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torch.amp.GradScaler(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"cuda"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 = (torch.bfloat16 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torch.cuda.is_bf16_supported()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torch.float16)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torch.autocast(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"cuda"</a:t>
            </a:r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dtype=dtype):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loss_fn(model(xb), yb)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scaler.scale(loss).backward()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scaler.step(opt); scaler.update()</a:t>
            </a:r>
            <a:pPr algn="l" indent="0" marL="0">
              <a:lnSpc>
                <a:spcPct val="110000"/>
              </a:lnSpc>
              <a:buNone/>
            </a:pP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02920" y="3986784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1B2340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13308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60704" y="398678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has fp32's range (no GradScaler needed); fp16 needs it. </a:t>
            </a:r>
            <a:pPr algn="l" indent="0" marL="0">
              <a:buNone/>
            </a:pPr>
            <a:r>
              <a:rPr lang="en-US" sz="103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levers: gradient accumulation · gradient checkpointing · torch.compile · FlashAttention (SDPA) · FP8 on H100.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06 · GENERALISATION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overfitting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91056"/>
            <a:ext cx="3840480" cy="2871216"/>
          </a:xfrm>
          <a:prstGeom prst="roundRect">
            <a:avLst>
              <a:gd name="adj" fmla="val 2866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vs VALIDATION LOSS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84832"/>
          <a:ext cx="3712464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4526280" y="1591056"/>
            <a:ext cx="4114800" cy="630936"/>
          </a:xfrm>
          <a:prstGeom prst="roundRect">
            <a:avLst>
              <a:gd name="adj" fmla="val 1304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1709928"/>
            <a:ext cx="402336" cy="402336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117" y="1826605"/>
            <a:ext cx="168981" cy="1689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75504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175504" y="19293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zero activations so no neuron over-specialises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4526280" y="2313432"/>
            <a:ext cx="4114800" cy="630936"/>
          </a:xfrm>
          <a:prstGeom prst="roundRect">
            <a:avLst>
              <a:gd name="adj" fmla="val 1304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432304"/>
            <a:ext cx="402336" cy="40233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117" y="2548981"/>
            <a:ext cx="168981" cy="168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75504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(AdamW)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175504" y="2651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large weights — the L2 regulariser, built in</a:t>
            </a:r>
            <a:endParaRPr lang="en-US" sz="940" dirty="0"/>
          </a:p>
        </p:txBody>
      </p:sp>
      <p:sp>
        <p:nvSpPr>
          <p:cNvPr id="17" name="Shape 12"/>
          <p:cNvSpPr/>
          <p:nvPr/>
        </p:nvSpPr>
        <p:spPr>
          <a:xfrm>
            <a:off x="4526280" y="3035808"/>
            <a:ext cx="4114800" cy="630936"/>
          </a:xfrm>
          <a:prstGeom prst="roundRect">
            <a:avLst>
              <a:gd name="adj" fmla="val 1304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0" y="3154680"/>
            <a:ext cx="402336" cy="402336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117" y="3271357"/>
            <a:ext cx="168981" cy="1689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75504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175504" y="33741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when val loss stalls; keep the best checkpoint</a:t>
            </a:r>
            <a:endParaRPr lang="en-US" sz="940" dirty="0"/>
          </a:p>
        </p:txBody>
      </p:sp>
      <p:sp>
        <p:nvSpPr>
          <p:cNvPr id="22" name="Shape 16"/>
          <p:cNvSpPr/>
          <p:nvPr/>
        </p:nvSpPr>
        <p:spPr>
          <a:xfrm>
            <a:off x="4526280" y="3758184"/>
            <a:ext cx="4114800" cy="630936"/>
          </a:xfrm>
          <a:prstGeom prst="roundRect">
            <a:avLst>
              <a:gd name="adj" fmla="val 1304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663440" y="3877056"/>
            <a:ext cx="402336" cy="40233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117" y="3993733"/>
            <a:ext cx="168981" cy="16898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75504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&amp; norm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175504" y="40965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variety + Batch/LayerNorm stabilise training</a:t>
            </a:r>
            <a:endParaRPr lang="en-US" sz="940" dirty="0"/>
          </a:p>
        </p:txBody>
      </p:sp>
      <p:sp>
        <p:nvSpPr>
          <p:cNvPr id="27" name="Text 20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07 · SHIP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Checkpointing, loading &amp; ONNX export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93776" cy="493776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5" y="1715963"/>
            <a:ext cx="207386" cy="2073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state_dict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70432" y="18288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whole model object — the weights dictionary is portable and survives code refactors.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502920" y="2295144"/>
            <a:ext cx="493776" cy="49377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5" y="2438339"/>
            <a:ext cx="207386" cy="2073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 is a dict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70432" y="25511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model + optimizer + epoch (+ scaler). Restore it to resume training exactly where you stopped.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502920" y="3017520"/>
            <a:ext cx="493776" cy="493776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5" y="3160715"/>
            <a:ext cx="207386" cy="2073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best, not just last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70432" y="3273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best-on-validation separately — that's the model early stopping hands you.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502920" y="3739896"/>
            <a:ext cx="493776" cy="493776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5" y="3883091"/>
            <a:ext cx="207386" cy="2073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3721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 serving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70432" y="39959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for framework-agnostic, optimised inference (ONNX Runtime, TensorRT); TorchScript / torch.compile stay PyTorch-native.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5212080" y="1572768"/>
            <a:ext cx="3429000" cy="2615184"/>
          </a:xfrm>
          <a:prstGeom prst="roundRect">
            <a:avLst>
              <a:gd name="adj" fmla="val 2448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358384" y="17007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16"/>
          <p:cNvSpPr/>
          <p:nvPr/>
        </p:nvSpPr>
        <p:spPr>
          <a:xfrm>
            <a:off x="5513832" y="17007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17"/>
          <p:cNvSpPr/>
          <p:nvPr/>
        </p:nvSpPr>
        <p:spPr>
          <a:xfrm>
            <a:off x="5669280" y="17007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18"/>
          <p:cNvSpPr/>
          <p:nvPr/>
        </p:nvSpPr>
        <p:spPr>
          <a:xfrm>
            <a:off x="5413248" y="1883664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checkpoint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torch.save({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model.state_dict(),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opt.state_dict(),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"epoch"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epoch,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"ckpt.pt"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resume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torch.load(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"ckpt.pt"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model.load_state_dict(c[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torch.onnx.export(model, x, 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"m.onnx"</a:t>
            </a:r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0000"/>
              </a:lnSpc>
              <a:buNone/>
            </a:pP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5212080" y="4279392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1B2340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34924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= </a:t>
            </a:r>
            <a:pPr algn="l" indent="0" marL="0">
              <a:buNone/>
            </a:pPr>
            <a:r>
              <a:rPr lang="en-US" sz="93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state_dict + seed + pinned versions.</a:t>
            </a:r>
            <a:endParaRPr lang="en-US" sz="930" dirty="0"/>
          </a:p>
        </p:txBody>
      </p:sp>
      <p:sp>
        <p:nvSpPr>
          <p:cNvPr id="27" name="Text 2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PUTTING IT TOGETHER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&amp; key takeaways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114800" cy="2926080"/>
          </a:xfrm>
          <a:prstGeom prst="roundRect">
            <a:avLst>
              <a:gd name="adj" fmla="val 2813"/>
            </a:avLst>
          </a:prstGeom>
          <a:solidFill>
            <a:srgbClr val="141A31"/>
          </a:solidFill>
          <a:ln w="17780">
            <a:solidFill>
              <a:srgbClr val="A3E6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73936"/>
            <a:ext cx="512064" cy="51206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99" y="1922435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105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BUILD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model with nn.Module (MLP, CNN or mini-transformer)</a:t>
            </a:r>
            <a:endParaRPr lang="en-US" sz="1100" dirty="0"/>
          </a:p>
          <a:p>
            <a:pPr algn="l"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training loop by hand: zero_grad → step</a:t>
            </a:r>
            <a:endParaRPr lang="en-US" sz="1100" dirty="0"/>
          </a:p>
          <a:p>
            <a:pPr algn="l"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mixed precision with autocast + bf16</a:t>
            </a:r>
            <a:endParaRPr lang="en-US" sz="1100" dirty="0"/>
          </a:p>
          <a:p>
            <a:pPr algn="l"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dropout, weight decay &amp; early stopping</a:t>
            </a:r>
            <a:endParaRPr lang="en-US" sz="1100" dirty="0"/>
          </a:p>
          <a:p>
            <a:pPr algn="l"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the best-on-validation model each epoch</a:t>
            </a:r>
            <a:endParaRPr lang="en-US" sz="1100" dirty="0"/>
          </a:p>
          <a:p>
            <a:pPr algn="l"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trained network to ONNX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572768"/>
            <a:ext cx="3794760" cy="649224"/>
          </a:xfrm>
          <a:prstGeom prst="roundRect">
            <a:avLst>
              <a:gd name="adj" fmla="val 1267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74336" y="1691640"/>
            <a:ext cx="420624" cy="42062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317" y="1813621"/>
            <a:ext cx="176662" cy="1766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only forward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504688" y="1911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handles the backward pass for you.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46320" y="2313432"/>
            <a:ext cx="3794760" cy="649224"/>
          </a:xfrm>
          <a:prstGeom prst="roundRect">
            <a:avLst>
              <a:gd name="adj" fmla="val 1267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74336" y="2432304"/>
            <a:ext cx="420624" cy="42062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317" y="2554285"/>
            <a:ext cx="176662" cy="1766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04688" y="2386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5-line loop is universal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504688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trains the same way — scale differs.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46320" y="3054096"/>
            <a:ext cx="3794760" cy="649224"/>
          </a:xfrm>
          <a:prstGeom prst="roundRect">
            <a:avLst>
              <a:gd name="adj" fmla="val 1267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74336" y="3172968"/>
            <a:ext cx="420624" cy="42062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317" y="3294949"/>
            <a:ext cx="176662" cy="1766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is near-free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504688" y="3392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speed and memory for a few lines.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846320" y="3794760"/>
            <a:ext cx="3794760" cy="649224"/>
          </a:xfrm>
          <a:prstGeom prst="roundRect">
            <a:avLst>
              <a:gd name="adj" fmla="val 1267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74336" y="3913632"/>
            <a:ext cx="420624" cy="420624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6317" y="4035613"/>
            <a:ext cx="176662" cy="1766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4688" y="3867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train/val gap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504688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checkpoint and ship what wins.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pPr algn="l" indent="0" marL="0">
              <a:buNone/>
            </a:pPr>
            <a:r>
              <a:rPr lang="en-US" sz="850" spc="13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DEEP LEARNING &amp; NEURAL NETWORK ENGINEERING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 OF DAY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5420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hard parts — exploding losses, OOM errors, attention that won't converge. Debugging training is the real skill.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364992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3602736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6" y="3761842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5295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7160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tensors to a trained, exported model.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364992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1B2340"/>
          </a:solidFill>
          <a:ln w="1651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 · DAY 04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Engineering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40599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foundation models: APIs, tokens, structured output.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03 — Deep Learning &amp; Neural Network Engineering</dc:title>
  <dc:subject>PptxGenJS Presentation</dc:subject>
  <dc:creator>AI Engineering Workshop</dc:creator>
  <cp:lastModifiedBy>AI Engineering Workshop</cp:lastModifiedBy>
  <cp:revision>1</cp:revision>
  <dcterms:created xsi:type="dcterms:W3CDTF">2026-07-05T08:45:55Z</dcterms:created>
  <dcterms:modified xsi:type="dcterms:W3CDTF">2026-07-05T08:45:55Z</dcterms:modified>
</cp:coreProperties>
</file>